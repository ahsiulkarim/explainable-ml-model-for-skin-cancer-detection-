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rts/chart1.xml" ContentType="application/vnd.openxmlformats-officedocument.drawingml.chart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50" r:id="rId1"/>
  </p:sldMasterIdLst>
  <p:notesMasterIdLst>
    <p:notesMasterId r:id="rId17"/>
  </p:notesMasterIdLst>
  <p:sldIdLst>
    <p:sldId id="256" r:id="rId2"/>
    <p:sldId id="270" r:id="rId3"/>
    <p:sldId id="272" r:id="rId4"/>
    <p:sldId id="271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A045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92" d="100"/>
          <a:sy n="92" d="100"/>
        </p:scale>
        <p:origin x="-307" y="9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1"/>
  <c:style val="2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B2B2A"/>
                </a:solidFill>
                <a:latin typeface="Calibri"/>
              </a:defRPr>
            </a:pPr>
            <a:r>
              <a:rPr lang="en-GB" sz="1400" b="0" i="0" u="none" strike="noStrike">
                <a:solidFill>
                  <a:srgbClr val="1B2B2A"/>
                </a:solidFill>
                <a:latin typeface="Calibri"/>
              </a:rPr>
              <a:t>Accuracy &amp; Macro-F1 Across Backbone Architectures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Test Accuracy (%)</c:v>
                </c:pt>
              </c:strCache>
            </c:strRef>
          </c:tx>
          <c:spPr>
            <a:solidFill>
              <a:srgbClr val="0B7A75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sz="1000" b="0" i="0" u="none" strike="noStrike">
                    <a:solidFill>
                      <a:srgbClr val="1B2B2A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Sheet1!$A$2:$A$5</c:f>
              <c:strCache>
                <c:ptCount val="4"/>
                <c:pt idx="0">
                  <c:v>EfficientNet-B2</c:v>
                </c:pt>
                <c:pt idx="1">
                  <c:v>ResNet50</c:v>
                </c:pt>
                <c:pt idx="2">
                  <c:v>Swin-Tiny
(5-fold)</c:v>
                </c:pt>
                <c:pt idx="3">
                  <c:v>ViT-B/16
(5-fold)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80.52</c:v>
                </c:pt>
                <c:pt idx="1">
                  <c:v>78.510000000000005</c:v>
                </c:pt>
                <c:pt idx="2">
                  <c:v>85.46</c:v>
                </c:pt>
                <c:pt idx="3">
                  <c:v>86.52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Macro F1 (%)</c:v>
                </c:pt>
              </c:strCache>
            </c:strRef>
          </c:tx>
          <c:spPr>
            <a:solidFill>
              <a:srgbClr val="E8843C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sz="1000" b="0" i="0" u="none" strike="noStrike">
                    <a:solidFill>
                      <a:srgbClr val="1B2B2A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Sheet1!$A$2:$A$5</c:f>
              <c:strCache>
                <c:ptCount val="4"/>
                <c:pt idx="0">
                  <c:v>EfficientNet-B2</c:v>
                </c:pt>
                <c:pt idx="1">
                  <c:v>ResNet50</c:v>
                </c:pt>
                <c:pt idx="2">
                  <c:v>Swin-Tiny
(5-fold)</c:v>
                </c:pt>
                <c:pt idx="3">
                  <c:v>ViT-B/16
(5-fold)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61.52</c:v>
                </c:pt>
                <c:pt idx="1">
                  <c:v>58.87</c:v>
                </c:pt>
                <c:pt idx="2">
                  <c:v>72.89</c:v>
                </c:pt>
                <c:pt idx="3">
                  <c:v>77.77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35"/>
        <c:axId val="47938560"/>
        <c:axId val="47940352"/>
      </c:barChart>
      <c:catAx>
        <c:axId val="47938560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C716F"/>
                </a:solidFill>
                <a:latin typeface="Calibri"/>
              </a:defRPr>
            </a:pPr>
            <a:endParaRPr lang="en-US"/>
          </a:p>
        </c:txPr>
        <c:crossAx val="47940352"/>
        <c:crosses val="autoZero"/>
        <c:auto val="1"/>
        <c:lblAlgn val="ctr"/>
        <c:lblOffset val="100"/>
        <c:noMultiLvlLbl val="1"/>
      </c:catAx>
      <c:valAx>
        <c:axId val="47940352"/>
        <c:scaling>
          <c:orientation val="minMax"/>
          <c:max val="100"/>
        </c:scaling>
        <c:delete val="0"/>
        <c:axPos val="l"/>
        <c:majorGridlines>
          <c:spPr>
            <a:ln w="12700" cap="flat">
              <a:solidFill>
                <a:srgbClr val="D8E6E3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100" b="0" i="0" u="none" strike="noStrike">
                    <a:solidFill>
                      <a:srgbClr val="5C716F"/>
                    </a:solidFill>
                    <a:latin typeface="Arial"/>
                  </a:defRPr>
                </a:pPr>
                <a:r>
                  <a:rPr lang="en-US" sz="1100" b="0" i="0" u="none" strike="noStrike">
                    <a:solidFill>
                      <a:srgbClr val="5C716F"/>
                    </a:solidFill>
                    <a:latin typeface="Arial"/>
                  </a:rPr>
                  <a:t>Percent (%)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C716F"/>
                </a:solidFill>
                <a:latin typeface="Calibri"/>
              </a:defRPr>
            </a:pPr>
            <a:endParaRPr lang="en-US"/>
          </a:p>
        </c:txPr>
        <c:crossAx val="47938560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/>
      <c:overlay val="0"/>
      <c:txPr>
        <a:bodyPr/>
        <a:lstStyle/>
        <a:p>
          <a:pPr>
            <a:defRPr sz="1100">
              <a:solidFill>
                <a:srgbClr val="5C716F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  <c:showDLblsOverMax val="1"/>
  </c:chart>
  <c:spPr>
    <a:solidFill>
      <a:schemeClr val="tx1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6096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6096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349CE43-B8DA-4997-84A4-6FDDF7E9ED3C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635000" y="914400"/>
            <a:ext cx="8128000" cy="4572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1580813"/>
            <a:ext cx="2971800" cy="6096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11580813"/>
            <a:ext cx="2971800" cy="6096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73F9881-2E59-4774-AAEE-B2BE207A29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56615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562707" y="1371600"/>
            <a:ext cx="10972800" cy="1828800"/>
          </a:xfrm>
        </p:spPr>
        <p:txBody>
          <a:bodyPr vert="horz" lIns="45720" tIns="0" rIns="45720" bIns="0" anchor="b">
            <a:normAutofit/>
            <a:scene3d>
              <a:camera prst="orthographicFront"/>
              <a:lightRig rig="soft" dir="t">
                <a:rot lat="0" lon="0" rev="17220000"/>
              </a:lightRig>
            </a:scene3d>
            <a:sp3d prstMaterial="softEdge">
              <a:bevelT w="38100" h="38100"/>
            </a:sp3d>
          </a:bodyPr>
          <a:lstStyle>
            <a:lvl1pPr>
              <a:defRPr sz="4800" b="1" cap="all" baseline="0">
                <a:ln w="6350">
                  <a:noFill/>
                </a:ln>
                <a:gradFill>
                  <a:gsLst>
                    <a:gs pos="0">
                      <a:schemeClr val="accent1">
                        <a:tint val="73000"/>
                        <a:satMod val="145000"/>
                      </a:schemeClr>
                    </a:gs>
                    <a:gs pos="73000">
                      <a:schemeClr val="accent1">
                        <a:tint val="73000"/>
                        <a:satMod val="145000"/>
                      </a:schemeClr>
                    </a:gs>
                    <a:gs pos="100000">
                      <a:schemeClr val="accent1">
                        <a:tint val="83000"/>
                        <a:satMod val="143000"/>
                      </a:schemeClr>
                    </a:gs>
                  </a:gsLst>
                  <a:lin ang="4800000" scaled="1"/>
                </a:gradFill>
                <a:effectLst>
                  <a:outerShdw blurRad="127000" dist="200000" dir="2700000" algn="tl" rotWithShape="0">
                    <a:srgbClr val="000000">
                      <a:alpha val="30000"/>
                    </a:srgbClr>
                  </a:outerShdw>
                </a:effectLst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7CB97365-EBCA-4027-87D5-99FC1D4DF0BB}" type="datetimeFigureOut">
              <a:rPr lang="en-US" smtClean="0"/>
              <a:pPr eaLnBrk="1" latinLnBrk="0" hangingPunct="1"/>
              <a:t>8/21/2026</a:t>
            </a:fld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29E33-B620-47F9-BB04-8846C2A5AFCC}" type="slidenum">
              <a:rPr kumimoji="0" lang="en-US" smtClean="0"/>
              <a:pPr eaLnBrk="1" latinLnBrk="0" hangingPunct="1"/>
              <a:t>‹#›</a:t>
            </a:fld>
            <a:endParaRPr kumimoji="0" lang="en-US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1828800" y="3331698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</p:spTree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7CB97365-EBCA-4027-87D5-99FC1D4DF0BB}" type="datetimeFigureOut">
              <a:rPr lang="en-US" smtClean="0"/>
              <a:pPr eaLnBrk="1" latinLnBrk="0" hangingPunct="1"/>
              <a:t>8/21/2026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29E33-B620-47F9-BB04-8846C2A5AFCC}" type="slidenum">
              <a:rPr kumimoji="0" lang="en-US" smtClean="0"/>
              <a:pPr eaLnBrk="1" latinLnBrk="0" hangingPunct="1"/>
              <a:t>‹#›</a:t>
            </a:fld>
            <a:endParaRPr kumimoji="0" lang="en-US"/>
          </a:p>
        </p:txBody>
      </p:sp>
    </p:spTree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33600" y="609600"/>
            <a:ext cx="9448800" cy="1828800"/>
          </a:xfrm>
        </p:spPr>
        <p:txBody>
          <a:bodyPr vert="horz" bIns="0" anchor="b">
            <a:noAutofit/>
            <a:scene3d>
              <a:camera prst="orthographicFront"/>
              <a:lightRig rig="soft" dir="t">
                <a:rot lat="0" lon="0" rev="17220000"/>
              </a:lightRig>
            </a:scene3d>
            <a:sp3d prstMaterial="softEdge">
              <a:bevelT w="38100" h="38100"/>
              <a:contourClr>
                <a:schemeClr val="tx2">
                  <a:shade val="50000"/>
                </a:schemeClr>
              </a:contourClr>
            </a:sp3d>
          </a:bodyPr>
          <a:lstStyle>
            <a:lvl1pPr algn="l" rtl="0">
              <a:spcBef>
                <a:spcPct val="0"/>
              </a:spcBef>
              <a:buNone/>
              <a:defRPr sz="4800" b="1" cap="none" baseline="0">
                <a:ln w="6350">
                  <a:noFill/>
                </a:ln>
                <a:solidFill>
                  <a:schemeClr val="accent1">
                    <a:tint val="90000"/>
                    <a:satMod val="120000"/>
                  </a:schemeClr>
                </a:solidFill>
                <a:effectLst>
                  <a:outerShdw blurRad="114300" dist="101600" dir="2700000" algn="tl" rotWithShape="0">
                    <a:srgbClr val="000000">
                      <a:alpha val="40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133600" y="2507786"/>
            <a:ext cx="9448800" cy="1509712"/>
          </a:xfrm>
        </p:spPr>
        <p:txBody>
          <a:bodyPr anchor="t"/>
          <a:lstStyle>
            <a:lvl1pPr marL="73152" indent="0" algn="l">
              <a:buNone/>
              <a:defRPr sz="20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7CB97365-EBCA-4027-87D5-99FC1D4DF0BB}" type="datetimeFigureOut">
              <a:rPr lang="en-US" smtClean="0"/>
              <a:pPr eaLnBrk="1" latinLnBrk="0" hangingPunct="1"/>
              <a:t>8/21/2026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66400" y="6416676"/>
            <a:ext cx="1016000" cy="365125"/>
          </a:xfrm>
        </p:spPr>
        <p:txBody>
          <a:bodyPr/>
          <a:lstStyle/>
          <a:p>
            <a:fld id="{69E29E33-B620-47F9-BB04-8846C2A5AFCC}" type="slidenum">
              <a:rPr kumimoji="0" lang="en-US" smtClean="0"/>
              <a:pPr eaLnBrk="1" latinLnBrk="0" hangingPunct="1"/>
              <a:t>‹#›</a:t>
            </a:fld>
            <a:endParaRPr kumimoji="0" lang="en-US"/>
          </a:p>
        </p:txBody>
      </p:sp>
    </p:spTree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7CB97365-EBCA-4027-87D5-99FC1D4DF0BB}" type="datetimeFigureOut">
              <a:rPr lang="en-US" smtClean="0"/>
              <a:pPr eaLnBrk="1" latinLnBrk="0" hangingPunct="1"/>
              <a:t>8/21/2026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29E33-B620-47F9-BB04-8846C2A5AFCC}" type="slidenum">
              <a:rPr kumimoji="0" lang="en-US" smtClean="0"/>
              <a:pPr eaLnBrk="1" latinLnBrk="0" hangingPunct="1"/>
              <a:t>‹#›</a:t>
            </a:fld>
            <a:endParaRPr kumimoji="0" lang="en-US"/>
          </a:p>
        </p:txBody>
      </p:sp>
    </p:spTree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10972800" cy="114300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750887"/>
          </a:xfrm>
        </p:spPr>
        <p:txBody>
          <a:bodyPr anchor="ctr"/>
          <a:lstStyle>
            <a:lvl1pPr marL="0" indent="0">
              <a:buNone/>
              <a:defRPr sz="2400" b="0" cap="all" baseline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6193368" y="1535113"/>
            <a:ext cx="5389033" cy="750887"/>
          </a:xfrm>
        </p:spPr>
        <p:txBody>
          <a:bodyPr anchor="ctr"/>
          <a:lstStyle>
            <a:lvl1pPr marL="0" indent="0">
              <a:buNone/>
              <a:defRPr sz="2400" b="0" cap="all" baseline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609600" y="2362201"/>
            <a:ext cx="5386917" cy="376396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362201"/>
            <a:ext cx="5389033" cy="376396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7CB97365-EBCA-4027-87D5-99FC1D4DF0BB}" type="datetimeFigureOut">
              <a:rPr lang="en-US" smtClean="0"/>
              <a:pPr eaLnBrk="1" latinLnBrk="0" hangingPunct="1"/>
              <a:t>8/21/2026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29E33-B620-47F9-BB04-8846C2A5AFCC}" type="slidenum">
              <a:rPr kumimoji="0" lang="en-US" smtClean="0"/>
              <a:pPr eaLnBrk="1" latinLnBrk="0" hangingPunct="1"/>
              <a:t>‹#›</a:t>
            </a:fld>
            <a:endParaRPr kumimoji="0" lang="en-US"/>
          </a:p>
        </p:txBody>
      </p:sp>
    </p:spTree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7CB97365-EBCA-4027-87D5-99FC1D4DF0BB}" type="datetimeFigureOut">
              <a:rPr lang="en-US" smtClean="0"/>
              <a:pPr eaLnBrk="1" latinLnBrk="0" hangingPunct="1"/>
              <a:t>8/21/2026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29E33-B620-47F9-BB04-8846C2A5AFCC}" type="slidenum">
              <a:rPr kumimoji="0" lang="en-US" smtClean="0"/>
              <a:pPr eaLnBrk="1" latinLnBrk="0" hangingPunct="1"/>
              <a:t>‹#›</a:t>
            </a:fld>
            <a:endParaRPr kumimoji="0" lang="en-US"/>
          </a:p>
        </p:txBody>
      </p:sp>
    </p:spTree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7CB97365-EBCA-4027-87D5-99FC1D4DF0BB}" type="datetimeFigureOut">
              <a:rPr lang="en-US" smtClean="0"/>
              <a:pPr eaLnBrk="1" latinLnBrk="0" hangingPunct="1"/>
              <a:t>8/21/2026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29E33-B620-47F9-BB04-8846C2A5AFCC}" type="slidenum">
              <a:rPr kumimoji="0" lang="en-US" smtClean="0"/>
              <a:pPr eaLnBrk="1" latinLnBrk="0" hangingPunct="1"/>
              <a:t>‹#›</a:t>
            </a:fld>
            <a:endParaRPr kumimoji="0" lang="en-US"/>
          </a:p>
        </p:txBody>
      </p:sp>
    </p:spTree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vert="horz" anchor="b">
            <a:normAutofit/>
            <a:sp3d prstMaterial="softEdge"/>
          </a:bodyPr>
          <a:lstStyle>
            <a:lvl1pPr algn="l">
              <a:buNone/>
              <a:defRPr sz="2200" b="0">
                <a:ln w="6350">
                  <a:noFill/>
                </a:ln>
                <a:solidFill>
                  <a:schemeClr val="accent1">
                    <a:tint val="73000"/>
                    <a:satMod val="180000"/>
                  </a:schemeClr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09601" y="1524001"/>
            <a:ext cx="4011084" cy="4602163"/>
          </a:xfrm>
        </p:spPr>
        <p:txBody>
          <a:bodyPr/>
          <a:lstStyle>
            <a:lvl1pPr marL="0" indent="0"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200"/>
            </a:lvl3pPr>
            <a:lvl4pPr>
              <a:defRPr sz="20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7CB97365-EBCA-4027-87D5-99FC1D4DF0BB}" type="datetimeFigureOut">
              <a:rPr lang="en-US" smtClean="0"/>
              <a:pPr eaLnBrk="1" latinLnBrk="0" hangingPunct="1"/>
              <a:t>8/21/2026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29E33-B620-47F9-BB04-8846C2A5AFCC}" type="slidenum">
              <a:rPr kumimoji="0" lang="en-US" smtClean="0"/>
              <a:pPr eaLnBrk="1" latinLnBrk="0" hangingPunct="1"/>
              <a:t>‹#›</a:t>
            </a:fld>
            <a:endParaRPr kumimoji="0" lang="en-US"/>
          </a:p>
        </p:txBody>
      </p:sp>
    </p:spTree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38400" y="609600"/>
            <a:ext cx="7315200" cy="522288"/>
          </a:xfrm>
        </p:spPr>
        <p:txBody>
          <a:bodyPr lIns="45720" rIns="45720" bIns="0" anchor="b">
            <a:sp3d prstMaterial="softEdge"/>
          </a:bodyPr>
          <a:lstStyle>
            <a:lvl1pPr algn="ctr">
              <a:buNone/>
              <a:defRPr sz="2000" b="1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438400" y="1831975"/>
            <a:ext cx="7315200" cy="3962400"/>
          </a:xfrm>
          <a:solidFill>
            <a:schemeClr val="bg2"/>
          </a:solidFill>
          <a:ln w="44450" cap="sq" cmpd="sng" algn="ctr">
            <a:solidFill>
              <a:srgbClr val="FFFFFF"/>
            </a:solidFill>
            <a:prstDash val="solid"/>
            <a:miter lim="800000"/>
          </a:ln>
          <a:effectLst>
            <a:outerShdw blurRad="190500" dist="228600" dir="2700000" sy="90000">
              <a:srgbClr val="000000">
                <a:alpha val="25000"/>
              </a:srgbClr>
            </a:outerShdw>
          </a:effectLst>
          <a:scene3d>
            <a:camera prst="orthographicFront">
              <a:rot lat="0" lon="0" rev="0"/>
            </a:camera>
            <a:lightRig rig="balanced" dir="tr">
              <a:rot lat="0" lon="0" rev="2700000"/>
            </a:lightRig>
          </a:scene3d>
          <a:sp3d prstMaterial="matte">
            <a:contourClr>
              <a:schemeClr val="tx2">
                <a:shade val="50000"/>
              </a:schemeClr>
            </a:contourClr>
          </a:sp3d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/>
          <a:lstStyle>
            <a:lvl1pPr indent="0">
              <a:buNone/>
              <a:defRPr sz="3200"/>
            </a:lvl1pPr>
          </a:lstStyle>
          <a:p>
            <a:pPr marL="0" algn="l" rtl="0" eaLnBrk="1" latinLnBrk="0" hangingPunct="1"/>
            <a:r>
              <a:rPr kumimoji="0" lang="en-US" smtClean="0">
                <a:solidFill>
                  <a:schemeClr val="lt1"/>
                </a:solidFill>
                <a:latin typeface="+mn-lt"/>
                <a:ea typeface="+mn-ea"/>
                <a:cs typeface="+mn-cs"/>
              </a:rPr>
              <a:t>Click icon to add picture</a:t>
            </a:r>
            <a:endParaRPr kumimoji="0" lang="en-US" dirty="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438400" y="1166787"/>
            <a:ext cx="7315200" cy="530352"/>
          </a:xfrm>
        </p:spPr>
        <p:txBody>
          <a:bodyPr lIns="45720" tIns="45720" rIns="45720" anchor="t"/>
          <a:lstStyle>
            <a:lvl1pPr marL="0" indent="0" algn="ctr"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7CB97365-EBCA-4027-87D5-99FC1D4DF0BB}" type="datetimeFigureOut">
              <a:rPr lang="en-US" smtClean="0"/>
              <a:pPr eaLnBrk="1" latinLnBrk="0" hangingPunct="1"/>
              <a:t>8/21/2026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29E33-B620-47F9-BB04-8846C2A5AFCC}" type="slidenum">
              <a:rPr kumimoji="0" lang="en-US" smtClean="0"/>
              <a:pPr eaLnBrk="1" latinLnBrk="0" hangingPunct="1"/>
              <a:t>‹#›</a:t>
            </a:fld>
            <a:endParaRPr kumimoji="0" lang="en-US"/>
          </a:p>
        </p:txBody>
      </p:sp>
    </p:spTree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7CB97365-EBCA-4027-87D5-99FC1D4DF0BB}" type="datetimeFigureOut">
              <a:rPr lang="en-US" smtClean="0"/>
              <a:pPr eaLnBrk="1" latinLnBrk="0" hangingPunct="1"/>
              <a:t>8/21/2026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29E33-B620-47F9-BB04-8846C2A5AFCC}" type="slidenum">
              <a:rPr kumimoji="0" lang="en-US" smtClean="0"/>
              <a:pPr eaLnBrk="1" latinLnBrk="0" hangingPunct="1"/>
              <a:t>‹#›</a:t>
            </a:fld>
            <a:endParaRPr kumimoji="0" lang="en-US"/>
          </a:p>
        </p:txBody>
      </p:sp>
    </p:spTree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7CB97365-EBCA-4027-87D5-99FC1D4DF0BB}" type="datetimeFigureOut">
              <a:rPr lang="en-US" smtClean="0"/>
              <a:pPr eaLnBrk="1" latinLnBrk="0" hangingPunct="1"/>
              <a:t>8/21/2026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29E33-B620-47F9-BB04-8846C2A5AFCC}" type="slidenum">
              <a:rPr kumimoji="0" lang="en-US" smtClean="0"/>
              <a:pPr eaLnBrk="1" latinLnBrk="0" hangingPunct="1"/>
              <a:t>‹#›</a:t>
            </a:fld>
            <a:endParaRPr kumimoji="0" lang="en-US"/>
          </a:p>
        </p:txBody>
      </p:sp>
    </p:spTree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  <a:lumOff val="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anchor="ctr">
            <a:normAutofit/>
            <a:scene3d>
              <a:camera prst="orthographicFront"/>
              <a:lightRig rig="soft" dir="t">
                <a:rot lat="0" lon="0" rev="16800000"/>
              </a:lightRig>
            </a:scene3d>
            <a:sp3d prstMaterial="softEdge">
              <a:bevelT w="38100" h="38100"/>
            </a:sp3d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609600" y="1600200"/>
            <a:ext cx="10972800" cy="470916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609600" y="6416676"/>
            <a:ext cx="2844800" cy="365125"/>
          </a:xfrm>
          <a:prstGeom prst="rect">
            <a:avLst/>
          </a:prstGeom>
        </p:spPr>
        <p:txBody>
          <a:bodyPr vert="horz" anchor="b"/>
          <a:lstStyle>
            <a:lvl1pPr algn="l" eaLnBrk="1" latinLnBrk="0" hangingPunct="1">
              <a:defRPr kumimoji="0" sz="1200">
                <a:solidFill>
                  <a:schemeClr val="tx1">
                    <a:shade val="50000"/>
                  </a:schemeClr>
                </a:solidFill>
              </a:defRPr>
            </a:lvl1pPr>
          </a:lstStyle>
          <a:p>
            <a:pPr eaLnBrk="1" latinLnBrk="0" hangingPunct="1"/>
            <a:fld id="{7CB97365-EBCA-4027-87D5-99FC1D4DF0BB}" type="datetimeFigureOut">
              <a:rPr lang="en-US" smtClean="0"/>
              <a:pPr eaLnBrk="1" latinLnBrk="0" hangingPunct="1"/>
              <a:t>8/21/2026</a:t>
            </a:fld>
            <a:endParaRPr lang="en-US">
              <a:solidFill>
                <a:schemeClr val="tx1">
                  <a:shade val="50000"/>
                </a:scheme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4165600" y="6416676"/>
            <a:ext cx="3860800" cy="365125"/>
          </a:xfrm>
          <a:prstGeom prst="rect">
            <a:avLst/>
          </a:prstGeom>
        </p:spPr>
        <p:txBody>
          <a:bodyPr vert="horz" anchor="b"/>
          <a:lstStyle>
            <a:lvl1pPr algn="ctr" eaLnBrk="1" latinLnBrk="0" hangingPunct="1">
              <a:defRPr kumimoji="0" sz="1200">
                <a:solidFill>
                  <a:schemeClr val="tx1">
                    <a:shade val="50000"/>
                  </a:schemeClr>
                </a:solidFill>
              </a:defRPr>
            </a:lvl1pPr>
          </a:lstStyle>
          <a:p>
            <a:endParaRPr kumimoji="0" lang="en-US">
              <a:solidFill>
                <a:schemeClr val="tx1">
                  <a:shade val="50000"/>
                </a:schemeClr>
              </a:solidFill>
            </a:endParaRPr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10566400" y="6416676"/>
            <a:ext cx="1016000" cy="365125"/>
          </a:xfrm>
          <a:prstGeom prst="rect">
            <a:avLst/>
          </a:prstGeom>
        </p:spPr>
        <p:txBody>
          <a:bodyPr vert="horz" lIns="0" rIns="0" anchor="b"/>
          <a:lstStyle>
            <a:lvl1pPr algn="r" eaLnBrk="1" latinLnBrk="0" hangingPunct="1">
              <a:defRPr kumimoji="0" sz="1200">
                <a:solidFill>
                  <a:schemeClr val="tx1">
                    <a:shade val="50000"/>
                  </a:schemeClr>
                </a:solidFill>
              </a:defRPr>
            </a:lvl1pPr>
          </a:lstStyle>
          <a:p>
            <a:fld id="{69E29E33-B620-47F9-BB04-8846C2A5AFCC}" type="slidenum">
              <a:rPr kumimoji="0" lang="en-US" smtClean="0"/>
              <a:pPr eaLnBrk="1" latinLnBrk="0" hangingPunct="1"/>
              <a:t>‹#›</a:t>
            </a:fld>
            <a:endParaRPr kumimoji="0" lang="en-US" dirty="0">
              <a:solidFill>
                <a:schemeClr val="tx1">
                  <a:shade val="50000"/>
                </a:schemeClr>
              </a:solidFill>
            </a:endParaRPr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  <p:sldLayoutId id="2147483661" r:id="rId11"/>
    <p:sldLayoutId id="2147483662" r:id="rId12"/>
  </p:sldLayoutIdLst>
  <p:hf sldNum="0" hdr="0" ftr="0" dt="0"/>
  <p:txStyles>
    <p:titleStyle>
      <a:lvl1pPr algn="ctr" rtl="0" eaLnBrk="1" latinLnBrk="0" hangingPunct="1">
        <a:spcBef>
          <a:spcPct val="0"/>
        </a:spcBef>
        <a:buNone/>
        <a:defRPr kumimoji="0" sz="4100" b="1" kern="1200" cap="none" baseline="0">
          <a:ln w="6350">
            <a:noFill/>
          </a:ln>
          <a:gradFill>
            <a:gsLst>
              <a:gs pos="0">
                <a:schemeClr val="accent1">
                  <a:tint val="73000"/>
                  <a:satMod val="145000"/>
                </a:schemeClr>
              </a:gs>
              <a:gs pos="73000">
                <a:schemeClr val="accent1">
                  <a:tint val="73000"/>
                  <a:satMod val="145000"/>
                </a:schemeClr>
              </a:gs>
              <a:gs pos="100000">
                <a:schemeClr val="accent1">
                  <a:tint val="83000"/>
                  <a:satMod val="143000"/>
                </a:schemeClr>
              </a:gs>
            </a:gsLst>
            <a:lin ang="4800000" scaled="1"/>
          </a:gradFill>
          <a:effectLst>
            <a:outerShdw blurRad="114300" dist="101600" dir="2700000" algn="tl" rotWithShape="0">
              <a:srgbClr val="000000">
                <a:alpha val="40000"/>
              </a:srgbClr>
            </a:outerShdw>
          </a:effectLst>
          <a:latin typeface="+mj-lt"/>
          <a:ea typeface="+mj-ea"/>
          <a:cs typeface="+mj-cs"/>
        </a:defRPr>
      </a:lvl1pPr>
    </p:titleStyle>
    <p:bodyStyle>
      <a:lvl1pPr marL="548640" indent="-411480" algn="l" rtl="0" eaLnBrk="1" latinLnBrk="0" hangingPunct="1">
        <a:spcBef>
          <a:spcPct val="20000"/>
        </a:spcBef>
        <a:buClr>
          <a:schemeClr val="tx1">
            <a:shade val="95000"/>
          </a:schemeClr>
        </a:buClr>
        <a:buSzPct val="65000"/>
        <a:buFont typeface="Wingdings 2"/>
        <a:buChar char=""/>
        <a:defRPr kumimoji="0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868680" indent="-283464" algn="l" rtl="0" eaLnBrk="1" latinLnBrk="0" hangingPunct="1">
        <a:spcBef>
          <a:spcPct val="20000"/>
        </a:spcBef>
        <a:buClr>
          <a:schemeClr val="tx1"/>
        </a:buClr>
        <a:buSzPct val="80000"/>
        <a:buFont typeface="Wingdings 2"/>
        <a:buChar char="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33856" indent="-228600" algn="l" rtl="0" eaLnBrk="1" latinLnBrk="0" hangingPunct="1">
        <a:spcBef>
          <a:spcPct val="20000"/>
        </a:spcBef>
        <a:buClr>
          <a:schemeClr val="tx1"/>
        </a:buClr>
        <a:buSzPct val="95000"/>
        <a:buFont typeface="Wingdings"/>
        <a:buChar char=""/>
        <a:defRPr kumimoji="0" sz="2200" kern="1200">
          <a:solidFill>
            <a:schemeClr val="tx1"/>
          </a:solidFill>
          <a:latin typeface="+mn-lt"/>
          <a:ea typeface="+mn-ea"/>
          <a:cs typeface="+mn-cs"/>
        </a:defRPr>
      </a:lvl3pPr>
      <a:lvl4pPr marL="1353312" indent="-182880" algn="l" rtl="0" eaLnBrk="1" latinLnBrk="0" hangingPunct="1">
        <a:spcBef>
          <a:spcPct val="20000"/>
        </a:spcBef>
        <a:buClr>
          <a:schemeClr val="tx1"/>
        </a:buClr>
        <a:buSzPct val="100000"/>
        <a:buFont typeface="Wingdings 3"/>
        <a:buChar char="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545336" indent="-182880" algn="l" rtl="0" eaLnBrk="1" latinLnBrk="0" hangingPunct="1">
        <a:spcBef>
          <a:spcPct val="20000"/>
        </a:spcBef>
        <a:buClr>
          <a:schemeClr val="tx1"/>
        </a:buClr>
        <a:buFont typeface="Wingdings 2"/>
        <a:buChar char="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764792" indent="-182880" algn="l" rtl="0" eaLnBrk="1" latinLnBrk="0" hangingPunct="1">
        <a:spcBef>
          <a:spcPct val="20000"/>
        </a:spcBef>
        <a:buClr>
          <a:schemeClr val="tx1"/>
        </a:buClr>
        <a:buFont typeface="Wingdings 3"/>
        <a:buChar char="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65960" indent="-182880" algn="l" rtl="0" eaLnBrk="1" latinLnBrk="0" hangingPunct="1">
        <a:spcBef>
          <a:spcPct val="20000"/>
        </a:spcBef>
        <a:buClr>
          <a:schemeClr val="tx1"/>
        </a:buClr>
        <a:buFont typeface="Wingdings 2"/>
        <a:buChar char="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167128" indent="-182880" algn="l" rtl="0" eaLnBrk="1" latinLnBrk="0" hangingPunct="1">
        <a:spcBef>
          <a:spcPct val="20000"/>
        </a:spcBef>
        <a:buClr>
          <a:schemeClr val="tx1"/>
        </a:buClr>
        <a:buFont typeface="Wingdings 2"/>
        <a:buChar char=""/>
        <a:defRPr kumimoji="0"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368296" indent="-182880" algn="l" rtl="0" eaLnBrk="1" latinLnBrk="0" hangingPunct="1">
        <a:spcBef>
          <a:spcPct val="20000"/>
        </a:spcBef>
        <a:buClr>
          <a:schemeClr val="tx1"/>
        </a:buClr>
        <a:buFont typeface="Wingdings 2"/>
        <a:buChar char=""/>
        <a:defRPr kumimoji="0" sz="14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9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69680" y="-1188720"/>
            <a:ext cx="5120640" cy="5120640"/>
          </a:xfrm>
          <a:prstGeom prst="ellipse">
            <a:avLst/>
          </a:prstGeom>
          <a:solidFill>
            <a:srgbClr val="0B7A75">
              <a:alpha val="2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149840" y="2377440"/>
            <a:ext cx="2926080" cy="2926080"/>
          </a:xfrm>
          <a:prstGeom prst="ellipse">
            <a:avLst/>
          </a:prstGeom>
          <a:solidFill>
            <a:srgbClr val="3FA79A">
              <a:alpha val="3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9646920" y="4480560"/>
            <a:ext cx="1188720" cy="1188720"/>
          </a:xfrm>
          <a:prstGeom prst="ellipse">
            <a:avLst/>
          </a:prstGeom>
          <a:solidFill>
            <a:srgbClr val="E8843C">
              <a:alpha val="4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1430000" y="1005840"/>
            <a:ext cx="502920" cy="502920"/>
          </a:xfrm>
          <a:prstGeom prst="ellipse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417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50" dirty="0">
                <a:solidFill>
                  <a:srgbClr val="3FA7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EXPLAINABLE AI  ·  DERMATOLOGY  ·  HAM10000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94360" y="1874520"/>
            <a:ext cx="960120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Explainable Machine Learning</a:t>
            </a:r>
            <a:endParaRPr lang="en-US" sz="42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 Skin Cancer Detection</a:t>
            </a:r>
            <a:endParaRPr lang="en-US" sz="4200" dirty="0"/>
          </a:p>
        </p:txBody>
      </p:sp>
      <p:sp>
        <p:nvSpPr>
          <p:cNvPr id="8" name="Text 6"/>
          <p:cNvSpPr/>
          <p:nvPr/>
        </p:nvSpPr>
        <p:spPr>
          <a:xfrm>
            <a:off x="621792" y="3794760"/>
            <a:ext cx="85039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CFE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multi-model deep learning pipeline — from convolutional and transformer</a:t>
            </a:r>
            <a:endParaRPr lang="en-US" sz="15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CFE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baselines to an attention-explainable graph neural network — for classifying</a:t>
            </a:r>
            <a:endParaRPr lang="en-US" sz="15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CFE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seven classes of pigmented skin lesions.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40080" y="5074920"/>
            <a:ext cx="1280160" cy="0"/>
          </a:xfrm>
          <a:prstGeom prst="line">
            <a:avLst/>
          </a:prstGeom>
          <a:noFill/>
          <a:ln w="38100">
            <a:solidFill>
              <a:srgbClr val="E8843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475720" y="6446520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71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69680" y="-1188720"/>
            <a:ext cx="5120640" cy="5120640"/>
          </a:xfrm>
          <a:prstGeom prst="ellipse">
            <a:avLst/>
          </a:prstGeom>
          <a:solidFill>
            <a:srgbClr val="0B7A75">
              <a:alpha val="2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149840" y="2377440"/>
            <a:ext cx="2926080" cy="2926080"/>
          </a:xfrm>
          <a:prstGeom prst="ellipse">
            <a:avLst/>
          </a:prstGeom>
          <a:solidFill>
            <a:srgbClr val="3FA79A">
              <a:alpha val="3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9646920" y="4480560"/>
            <a:ext cx="1188720" cy="1188720"/>
          </a:xfrm>
          <a:prstGeom prst="ellipse">
            <a:avLst/>
          </a:prstGeom>
          <a:solidFill>
            <a:srgbClr val="E8843C">
              <a:alpha val="4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1430000" y="1005840"/>
            <a:ext cx="502920" cy="502920"/>
          </a:xfrm>
          <a:prstGeom prst="ellipse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417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50" dirty="0">
                <a:solidFill>
                  <a:srgbClr val="3FA7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EXPLAINABLE AI  ·  DERMATOLOGY  ·  HAM10000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94360" y="1874520"/>
            <a:ext cx="960120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8000"/>
              </a:lnSpc>
              <a:buNone/>
            </a:pPr>
            <a:endParaRPr lang="en-US" sz="4200" dirty="0"/>
          </a:p>
        </p:txBody>
      </p:sp>
      <p:sp>
        <p:nvSpPr>
          <p:cNvPr id="8" name="Text 6"/>
          <p:cNvSpPr/>
          <p:nvPr/>
        </p:nvSpPr>
        <p:spPr>
          <a:xfrm>
            <a:off x="621792" y="3794760"/>
            <a:ext cx="85039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1475720" y="6446520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71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000" dirty="0"/>
          </a:p>
        </p:txBody>
      </p:sp>
      <p:sp>
        <p:nvSpPr>
          <p:cNvPr id="12" name="Shape 6"/>
          <p:cNvSpPr/>
          <p:nvPr/>
        </p:nvSpPr>
        <p:spPr>
          <a:xfrm>
            <a:off x="640080" y="2556164"/>
            <a:ext cx="2212848" cy="777240"/>
          </a:xfrm>
          <a:prstGeom prst="roundRect">
            <a:avLst>
              <a:gd name="adj" fmla="val 9412"/>
            </a:avLst>
          </a:prstGeom>
          <a:solidFill>
            <a:srgbClr val="FFFFFF">
              <a:alpha val="10000"/>
            </a:srgbClr>
          </a:solidFill>
          <a:ln w="9525">
            <a:solidFill>
              <a:srgbClr val="FFFFFF">
                <a:alpha val="45000"/>
              </a:srgbClr>
            </a:solidFill>
            <a:prstDash val="solid"/>
          </a:ln>
        </p:spPr>
      </p:sp>
      <p:sp>
        <p:nvSpPr>
          <p:cNvPr id="13" name="Shape 6"/>
          <p:cNvSpPr/>
          <p:nvPr/>
        </p:nvSpPr>
        <p:spPr>
          <a:xfrm>
            <a:off x="3107299" y="2558243"/>
            <a:ext cx="2212848" cy="777240"/>
          </a:xfrm>
          <a:prstGeom prst="roundRect">
            <a:avLst>
              <a:gd name="adj" fmla="val 9412"/>
            </a:avLst>
          </a:prstGeom>
          <a:solidFill>
            <a:srgbClr val="FFFFFF">
              <a:alpha val="10000"/>
            </a:srgbClr>
          </a:solidFill>
          <a:ln w="9525">
            <a:solidFill>
              <a:srgbClr val="FFFFFF">
                <a:alpha val="45000"/>
              </a:srgbClr>
            </a:solidFill>
            <a:prstDash val="solid"/>
          </a:ln>
        </p:spPr>
      </p:sp>
      <p:sp>
        <p:nvSpPr>
          <p:cNvPr id="14" name="Shape 6"/>
          <p:cNvSpPr/>
          <p:nvPr/>
        </p:nvSpPr>
        <p:spPr>
          <a:xfrm>
            <a:off x="5539047" y="2556164"/>
            <a:ext cx="2212848" cy="777240"/>
          </a:xfrm>
          <a:prstGeom prst="roundRect">
            <a:avLst>
              <a:gd name="adj" fmla="val 9412"/>
            </a:avLst>
          </a:prstGeom>
          <a:solidFill>
            <a:srgbClr val="FFFFFF">
              <a:alpha val="10000"/>
            </a:srgbClr>
          </a:solidFill>
          <a:ln w="9525">
            <a:solidFill>
              <a:srgbClr val="FFFFFF">
                <a:alpha val="45000"/>
              </a:srgbClr>
            </a:solidFill>
            <a:prstDash val="solid"/>
          </a:ln>
        </p:spPr>
      </p:sp>
      <p:sp>
        <p:nvSpPr>
          <p:cNvPr id="15" name="Shape 6"/>
          <p:cNvSpPr/>
          <p:nvPr/>
        </p:nvSpPr>
        <p:spPr>
          <a:xfrm>
            <a:off x="7936992" y="2556164"/>
            <a:ext cx="2212848" cy="777240"/>
          </a:xfrm>
          <a:prstGeom prst="roundRect">
            <a:avLst>
              <a:gd name="adj" fmla="val 9412"/>
            </a:avLst>
          </a:prstGeom>
          <a:solidFill>
            <a:srgbClr val="FFFFFF">
              <a:alpha val="10000"/>
            </a:srgbClr>
          </a:solidFill>
          <a:ln w="9525">
            <a:solidFill>
              <a:srgbClr val="FFFFFF">
                <a:alpha val="45000"/>
              </a:srgbClr>
            </a:solidFill>
            <a:prstDash val="solid"/>
          </a:ln>
        </p:spPr>
      </p:sp>
      <p:sp>
        <p:nvSpPr>
          <p:cNvPr id="10" name="TextBox 9"/>
          <p:cNvSpPr txBox="1"/>
          <p:nvPr/>
        </p:nvSpPr>
        <p:spPr>
          <a:xfrm>
            <a:off x="708243" y="2008108"/>
            <a:ext cx="29659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Submitted by (Group-2):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1396" y="2621618"/>
            <a:ext cx="207153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err="1" smtClean="0"/>
              <a:t>Jannatul</a:t>
            </a:r>
            <a:r>
              <a:rPr lang="en-US" sz="1600" dirty="0" smtClean="0"/>
              <a:t> </a:t>
            </a:r>
            <a:r>
              <a:rPr lang="en-US" sz="1600" dirty="0" err="1" smtClean="0"/>
              <a:t>Alam</a:t>
            </a:r>
            <a:r>
              <a:rPr lang="en-US" sz="1600" dirty="0" smtClean="0"/>
              <a:t> </a:t>
            </a:r>
            <a:r>
              <a:rPr lang="en-US" sz="1600" dirty="0" err="1" smtClean="0"/>
              <a:t>Shifa</a:t>
            </a:r>
            <a:endParaRPr lang="en-US" sz="1600" dirty="0" smtClean="0"/>
          </a:p>
          <a:p>
            <a:r>
              <a:rPr lang="en-US" sz="1600" dirty="0" smtClean="0"/>
              <a:t>2022-2-60-147</a:t>
            </a:r>
            <a:endParaRPr lang="en-US" sz="1600" dirty="0"/>
          </a:p>
        </p:txBody>
      </p:sp>
      <p:sp>
        <p:nvSpPr>
          <p:cNvPr id="17" name="TextBox 16"/>
          <p:cNvSpPr txBox="1"/>
          <p:nvPr/>
        </p:nvSpPr>
        <p:spPr>
          <a:xfrm>
            <a:off x="3205311" y="2623697"/>
            <a:ext cx="190308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>
                <a:ea typeface="Calibri" pitchFamily="34" charset="-122"/>
                <a:cs typeface="Calibri" pitchFamily="34" charset="-120"/>
              </a:rPr>
              <a:t>Md. </a:t>
            </a:r>
            <a:r>
              <a:rPr lang="en-US" sz="1600" b="1" dirty="0" err="1">
                <a:ea typeface="Calibri" pitchFamily="34" charset="-122"/>
                <a:cs typeface="Calibri" pitchFamily="34" charset="-120"/>
              </a:rPr>
              <a:t>Ahsiul</a:t>
            </a:r>
            <a:r>
              <a:rPr lang="en-US" sz="1600" b="1" dirty="0"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b="1" dirty="0" err="1">
                <a:ea typeface="Calibri" pitchFamily="34" charset="-122"/>
                <a:cs typeface="Calibri" pitchFamily="34" charset="-120"/>
              </a:rPr>
              <a:t>Karim</a:t>
            </a:r>
            <a:endParaRPr lang="en-US" sz="1600" dirty="0"/>
          </a:p>
          <a:p>
            <a:r>
              <a:rPr lang="en-US" sz="1600" dirty="0" smtClean="0"/>
              <a:t>2022-3-60-074</a:t>
            </a:r>
            <a:endParaRPr lang="en-US" sz="1600" dirty="0"/>
          </a:p>
        </p:txBody>
      </p:sp>
      <p:sp>
        <p:nvSpPr>
          <p:cNvPr id="18" name="TextBox 17"/>
          <p:cNvSpPr txBox="1"/>
          <p:nvPr/>
        </p:nvSpPr>
        <p:spPr>
          <a:xfrm>
            <a:off x="5685905" y="2623697"/>
            <a:ext cx="168026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Md. </a:t>
            </a:r>
            <a:r>
              <a:rPr lang="en-US" sz="1600" dirty="0" err="1"/>
              <a:t>Rahat</a:t>
            </a:r>
            <a:r>
              <a:rPr lang="en-US" sz="1600" dirty="0"/>
              <a:t> </a:t>
            </a:r>
            <a:r>
              <a:rPr lang="en-US" sz="1600" dirty="0" smtClean="0"/>
              <a:t>Khan</a:t>
            </a:r>
          </a:p>
          <a:p>
            <a:r>
              <a:rPr lang="en-US" sz="1600" dirty="0"/>
              <a:t>2021-1-60-090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63345" y="2604993"/>
            <a:ext cx="155202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err="1"/>
              <a:t>Fahim</a:t>
            </a:r>
            <a:r>
              <a:rPr lang="en-US" sz="1600" dirty="0"/>
              <a:t> </a:t>
            </a:r>
            <a:r>
              <a:rPr lang="en-US" sz="1600" dirty="0" err="1" smtClean="0"/>
              <a:t>Hossain</a:t>
            </a:r>
            <a:endParaRPr lang="en-US" sz="1600" dirty="0" smtClean="0"/>
          </a:p>
          <a:p>
            <a:r>
              <a:rPr lang="en-US" sz="1600" dirty="0"/>
              <a:t>2022-2-60-142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8242" y="3674655"/>
            <a:ext cx="8549639" cy="13542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 smtClean="0"/>
              <a:t> Submitted </a:t>
            </a:r>
            <a:r>
              <a:rPr lang="en-GB" dirty="0"/>
              <a:t>To: </a:t>
            </a:r>
          </a:p>
          <a:p>
            <a:endParaRPr lang="en-GB" sz="800" dirty="0" smtClean="0"/>
          </a:p>
          <a:p>
            <a:r>
              <a:rPr lang="en-GB" dirty="0"/>
              <a:t> </a:t>
            </a:r>
            <a:r>
              <a:rPr lang="en-GB" dirty="0" err="1" smtClean="0"/>
              <a:t>Dr</a:t>
            </a:r>
            <a:r>
              <a:rPr lang="en-GB" dirty="0" err="1"/>
              <a:t>.</a:t>
            </a:r>
            <a:r>
              <a:rPr lang="en-GB" dirty="0"/>
              <a:t> </a:t>
            </a:r>
            <a:r>
              <a:rPr lang="en-GB" dirty="0" err="1"/>
              <a:t>Raihan</a:t>
            </a:r>
            <a:r>
              <a:rPr lang="en-GB" dirty="0"/>
              <a:t> </a:t>
            </a:r>
            <a:r>
              <a:rPr lang="en-GB" dirty="0" err="1"/>
              <a:t>Ul</a:t>
            </a:r>
            <a:r>
              <a:rPr lang="en-GB" dirty="0"/>
              <a:t> </a:t>
            </a:r>
            <a:r>
              <a:rPr lang="en-GB" dirty="0" smtClean="0"/>
              <a:t>Islam</a:t>
            </a:r>
          </a:p>
          <a:p>
            <a:r>
              <a:rPr lang="en-GB" dirty="0" smtClean="0"/>
              <a:t> </a:t>
            </a:r>
            <a:r>
              <a:rPr lang="en-GB" dirty="0"/>
              <a:t>Associate Professor, Department of Computer Science and </a:t>
            </a:r>
            <a:r>
              <a:rPr lang="en-GB" dirty="0" smtClean="0"/>
              <a:t>Engineering</a:t>
            </a:r>
          </a:p>
          <a:p>
            <a:r>
              <a:rPr lang="en-GB" dirty="0"/>
              <a:t> </a:t>
            </a:r>
            <a:r>
              <a:rPr lang="en-GB" dirty="0" smtClean="0"/>
              <a:t>East </a:t>
            </a:r>
            <a:r>
              <a:rPr lang="en-GB" dirty="0"/>
              <a:t>West University </a:t>
            </a:r>
            <a:endParaRPr lang="en-US" dirty="0"/>
          </a:p>
        </p:txBody>
      </p:sp>
      <p:graphicFrame>
        <p:nvGraphicFramePr>
          <p:cNvPr id="21" name="Table 2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53354990"/>
              </p:ext>
            </p:extLst>
          </p:nvPr>
        </p:nvGraphicFramePr>
        <p:xfrm>
          <a:off x="640080" y="3620193"/>
          <a:ext cx="7680960" cy="1720734"/>
        </p:xfrm>
        <a:graphic>
          <a:graphicData uri="http://schemas.openxmlformats.org/drawingml/2006/table">
            <a:tbl>
              <a:tblPr/>
              <a:tblGrid>
                <a:gridCol w="7680960"/>
              </a:tblGrid>
              <a:tr h="1720734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533789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89709" y="1130531"/>
            <a:ext cx="2852063" cy="8002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kern="0" spc="2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28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endParaRPr 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856210" y="1772808"/>
            <a:ext cx="9060872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Skin cancer is among the most commonly diagnosed cancers worldwide, and prognosis depends </a:t>
            </a:r>
            <a:r>
              <a:rPr lang="en-GB" dirty="0" smtClean="0"/>
              <a:t>heavily </a:t>
            </a:r>
            <a:r>
              <a:rPr lang="en-GB" dirty="0"/>
              <a:t>on early, accurate detection. Melanoma, its most aggressive form, is highly curable when caught early but life-threatening once it progresses — making reliable screening a clinical priority. </a:t>
            </a:r>
            <a:endParaRPr lang="en-GB" dirty="0" smtClean="0"/>
          </a:p>
          <a:p>
            <a:r>
              <a:rPr lang="en-GB" dirty="0" err="1" smtClean="0"/>
              <a:t>Dermatoscopic</a:t>
            </a:r>
            <a:r>
              <a:rPr lang="en-GB" dirty="0" smtClean="0"/>
              <a:t> </a:t>
            </a:r>
            <a:r>
              <a:rPr lang="en-GB" dirty="0"/>
              <a:t>imaging combined with expert visual inspection remains the standard diagnostic approach, but manual assessment is time-consuming, requires specialized expertise, and is subject to inter-observer variability.</a:t>
            </a:r>
          </a:p>
          <a:p>
            <a:r>
              <a:rPr lang="en-GB" dirty="0"/>
              <a:t>Deep learning models — CNNs and, more recently, vision transformers — can now match or exceed dermatologist-level accuracy on lesion classification. However, these models largely operate as "black boxes": they output a diagnosis with no rationale for why a lesion was classified as benign or malignant. In a clinical setting, a prediction that cannot be visually justified is difficult for a physician to trust, regardless of its accuracy.</a:t>
            </a:r>
          </a:p>
          <a:p>
            <a:r>
              <a:rPr lang="en-GB" dirty="0"/>
              <a:t>This project addresses that gap by building and comparing a pipeline of </a:t>
            </a:r>
            <a:r>
              <a:rPr lang="en-GB" dirty="0" smtClean="0"/>
              <a:t>models.</a:t>
            </a:r>
            <a:r>
              <a:rPr lang="en-GB" dirty="0"/>
              <a:t/>
            </a:r>
            <a:br>
              <a:rPr lang="en-GB" dirty="0"/>
            </a:br>
            <a:endParaRPr lang="en-GB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754216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85F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latin typeface="Cambria" pitchFamily="34" charset="0"/>
                <a:ea typeface="Cambria" pitchFamily="34" charset="-122"/>
                <a:cs typeface="Cambria" pitchFamily="34" charset="-120"/>
              </a:rPr>
              <a:t>What We'll Cover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2161520" cy="128016"/>
          </a:xfrm>
          <a:prstGeom prst="rect">
            <a:avLst/>
          </a:prstGeom>
          <a:solidFill>
            <a:srgbClr val="0B7A75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600200"/>
            <a:ext cx="3520440" cy="1417320"/>
          </a:xfrm>
          <a:prstGeom prst="roundRect">
            <a:avLst>
              <a:gd name="adj" fmla="val 5161"/>
            </a:avLst>
          </a:prstGeom>
          <a:solidFill>
            <a:srgbClr val="EAF5F3"/>
          </a:solidFill>
          <a:ln/>
          <a:effectLst>
            <a:outerShdw blurRad="76200" dist="25400" dir="5400000" algn="bl" rotWithShape="0">
              <a:srgbClr val="1B2B2A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1737360"/>
            <a:ext cx="1097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3FA7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777240" y="2167128"/>
            <a:ext cx="3063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 smtClean="0">
                <a:solidFill>
                  <a:srgbClr val="1B2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777240" y="2496312"/>
            <a:ext cx="3063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C71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interpretability matters for AI-assisted skin cancer screening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389120" y="1600200"/>
            <a:ext cx="3520440" cy="1417320"/>
          </a:xfrm>
          <a:prstGeom prst="roundRect">
            <a:avLst>
              <a:gd name="adj" fmla="val 5161"/>
            </a:avLst>
          </a:prstGeom>
          <a:solidFill>
            <a:srgbClr val="EAF5F3"/>
          </a:solidFill>
          <a:ln/>
          <a:effectLst>
            <a:outerShdw blurRad="76200" dist="25400" dir="5400000" algn="bl" rotWithShape="0">
              <a:srgbClr val="1B2B2A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617720" y="1737360"/>
            <a:ext cx="1097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3FA7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4617720" y="2167128"/>
            <a:ext cx="3063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B2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Dataset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4617720" y="2496312"/>
            <a:ext cx="3063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C71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HAM10000 — 10,015 dermatoscopic images across 7 diagnostic classes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8229600" y="1600200"/>
            <a:ext cx="3520440" cy="1417320"/>
          </a:xfrm>
          <a:prstGeom prst="roundRect">
            <a:avLst>
              <a:gd name="adj" fmla="val 5161"/>
            </a:avLst>
          </a:prstGeom>
          <a:solidFill>
            <a:srgbClr val="EAF5F3"/>
          </a:solidFill>
          <a:ln/>
          <a:effectLst>
            <a:outerShdw blurRad="76200" dist="25400" dir="5400000" algn="bl" rotWithShape="0">
              <a:srgbClr val="1B2B2A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458200" y="1737360"/>
            <a:ext cx="1097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3FA7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8458200" y="2167128"/>
            <a:ext cx="3063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B2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8458200" y="2496312"/>
            <a:ext cx="3063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C71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CNNs → transformer ensembles → explainable GNN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48640" y="3337560"/>
            <a:ext cx="3520440" cy="1417320"/>
          </a:xfrm>
          <a:prstGeom prst="roundRect">
            <a:avLst>
              <a:gd name="adj" fmla="val 5161"/>
            </a:avLst>
          </a:prstGeom>
          <a:solidFill>
            <a:srgbClr val="EAF5F3"/>
          </a:solidFill>
          <a:ln/>
          <a:effectLst>
            <a:outerShdw blurRad="76200" dist="25400" dir="5400000" algn="bl" rotWithShape="0">
              <a:srgbClr val="1B2B2A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777240" y="3474720"/>
            <a:ext cx="1097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3FA7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777240" y="3904488"/>
            <a:ext cx="3063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B2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Results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777240" y="4233672"/>
            <a:ext cx="3063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C71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Accuracy, macro-F1, and ROC-AUC across five architectures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389120" y="3337560"/>
            <a:ext cx="3520440" cy="1417320"/>
          </a:xfrm>
          <a:prstGeom prst="roundRect">
            <a:avLst>
              <a:gd name="adj" fmla="val 5161"/>
            </a:avLst>
          </a:prstGeom>
          <a:solidFill>
            <a:srgbClr val="EAF5F3"/>
          </a:solidFill>
          <a:ln/>
          <a:effectLst>
            <a:outerShdw blurRad="76200" dist="25400" dir="5400000" algn="bl" rotWithShape="0">
              <a:srgbClr val="1B2B2A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617720" y="3474720"/>
            <a:ext cx="1097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3FA7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4617720" y="3904488"/>
            <a:ext cx="3063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B2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Explainability</a:t>
            </a:r>
            <a:endParaRPr lang="en-US" sz="1450" dirty="0"/>
          </a:p>
        </p:txBody>
      </p:sp>
      <p:sp>
        <p:nvSpPr>
          <p:cNvPr id="24" name="Text 22"/>
          <p:cNvSpPr/>
          <p:nvPr/>
        </p:nvSpPr>
        <p:spPr>
          <a:xfrm>
            <a:off x="4617720" y="4233672"/>
            <a:ext cx="3063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C71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Attention rollout — seeing what the model sees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8229600" y="3337560"/>
            <a:ext cx="3520440" cy="1417320"/>
          </a:xfrm>
          <a:prstGeom prst="roundRect">
            <a:avLst>
              <a:gd name="adj" fmla="val 5161"/>
            </a:avLst>
          </a:prstGeom>
          <a:solidFill>
            <a:srgbClr val="EAF5F3"/>
          </a:solidFill>
          <a:ln/>
          <a:effectLst>
            <a:outerShdw blurRad="76200" dist="25400" dir="5400000" algn="bl" rotWithShape="0">
              <a:srgbClr val="1B2B2A">
                <a:alpha val="12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8458200" y="3474720"/>
            <a:ext cx="1097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3FA7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2400" dirty="0"/>
          </a:p>
        </p:txBody>
      </p:sp>
      <p:sp>
        <p:nvSpPr>
          <p:cNvPr id="27" name="Text 25"/>
          <p:cNvSpPr/>
          <p:nvPr/>
        </p:nvSpPr>
        <p:spPr>
          <a:xfrm>
            <a:off x="8458200" y="3904488"/>
            <a:ext cx="3063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B2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Insights &amp; Next Steps</a:t>
            </a:r>
            <a:endParaRPr lang="en-US" sz="1450" dirty="0"/>
          </a:p>
        </p:txBody>
      </p:sp>
      <p:sp>
        <p:nvSpPr>
          <p:cNvPr id="28" name="Text 26"/>
          <p:cNvSpPr/>
          <p:nvPr/>
        </p:nvSpPr>
        <p:spPr>
          <a:xfrm>
            <a:off x="8458200" y="4233672"/>
            <a:ext cx="3063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C71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Class-wise challenges and future directions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11475720" y="6446520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71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34787722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85F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latin typeface="Cambria" pitchFamily="34" charset="0"/>
                <a:ea typeface="Cambria" pitchFamily="34" charset="-122"/>
                <a:cs typeface="Cambria" pitchFamily="34" charset="-120"/>
              </a:rPr>
              <a:t>Why Explainability Matters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2161520" cy="128016"/>
          </a:xfrm>
          <a:prstGeom prst="rect">
            <a:avLst/>
          </a:prstGeom>
          <a:solidFill>
            <a:srgbClr val="0B7A75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463040"/>
            <a:ext cx="594360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3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Skin cancer is among the most common cancers worldwide, and early, accurate diagnosis materially improves outcomes. Deep learning can match or exceed human performance on dermatoscopic image classification — but clinicians cannot act on a prediction they cannot interrogate.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548640" y="3291840"/>
            <a:ext cx="128016" cy="128016"/>
          </a:xfrm>
          <a:prstGeom prst="ellipse">
            <a:avLst/>
          </a:prstGeom>
          <a:solidFill>
            <a:srgbClr val="E8843C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3136392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>
                    <a:lumMod val="20000"/>
                    <a:lumOff val="8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Black Box Problem</a:t>
            </a:r>
            <a:endParaRPr lang="en-US" sz="1400" dirty="0">
              <a:solidFill>
                <a:schemeClr val="tx2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8" name="Text 6"/>
          <p:cNvSpPr/>
          <p:nvPr/>
        </p:nvSpPr>
        <p:spPr>
          <a:xfrm>
            <a:off x="868680" y="3447288"/>
            <a:ext cx="5577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High-capacity CNNs and transformers deliver strong accuracy but offer no insight into which lesion features drove a decision.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48640" y="4187952"/>
            <a:ext cx="128016" cy="128016"/>
          </a:xfrm>
          <a:prstGeom prst="ellipse">
            <a:avLst/>
          </a:prstGeom>
          <a:solidFill>
            <a:srgbClr val="E8843C"/>
          </a:solidFill>
          <a:ln/>
        </p:spPr>
      </p:sp>
      <p:sp>
        <p:nvSpPr>
          <p:cNvPr id="10" name="Text 8"/>
          <p:cNvSpPr/>
          <p:nvPr/>
        </p:nvSpPr>
        <p:spPr>
          <a:xfrm>
            <a:off x="868680" y="4032504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>
                    <a:lumMod val="20000"/>
                    <a:lumOff val="8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Trust Gap</a:t>
            </a:r>
            <a:endParaRPr lang="en-US" sz="1400" dirty="0">
              <a:solidFill>
                <a:schemeClr val="tx2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11" name="Text 9"/>
          <p:cNvSpPr/>
          <p:nvPr/>
        </p:nvSpPr>
        <p:spPr>
          <a:xfrm>
            <a:off x="868680" y="4343400"/>
            <a:ext cx="5577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Dermatologists need visual evidence — not just a class label — before a model's output can support real diagnostic decisions.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48640" y="5084064"/>
            <a:ext cx="128016" cy="128016"/>
          </a:xfrm>
          <a:prstGeom prst="ellipse">
            <a:avLst/>
          </a:prstGeom>
          <a:solidFill>
            <a:srgbClr val="E8843C"/>
          </a:solidFill>
          <a:ln/>
        </p:spPr>
      </p:sp>
      <p:sp>
        <p:nvSpPr>
          <p:cNvPr id="13" name="Text 11"/>
          <p:cNvSpPr/>
          <p:nvPr/>
        </p:nvSpPr>
        <p:spPr>
          <a:xfrm>
            <a:off x="868680" y="4928616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>
                    <a:lumMod val="20000"/>
                    <a:lumOff val="8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Approach</a:t>
            </a:r>
            <a:endParaRPr lang="en-US" sz="1400" dirty="0">
              <a:solidFill>
                <a:schemeClr val="tx2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14" name="Text 12"/>
          <p:cNvSpPr/>
          <p:nvPr/>
        </p:nvSpPr>
        <p:spPr>
          <a:xfrm>
            <a:off x="868680" y="5239512"/>
            <a:ext cx="5577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Pair strong baseline classifiers with an attention-explainable architecture, so predictions come with a visual rationale.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903720" y="1508760"/>
            <a:ext cx="4709160" cy="4572000"/>
          </a:xfrm>
          <a:prstGeom prst="roundRect">
            <a:avLst>
              <a:gd name="adj" fmla="val 2000"/>
            </a:avLst>
          </a:prstGeom>
          <a:solidFill>
            <a:srgbClr val="0A2E2E"/>
          </a:solidFill>
          <a:ln/>
        </p:spPr>
      </p:sp>
      <p:sp>
        <p:nvSpPr>
          <p:cNvPr id="16" name="Text 14"/>
          <p:cNvSpPr/>
          <p:nvPr/>
        </p:nvSpPr>
        <p:spPr>
          <a:xfrm>
            <a:off x="7178040" y="1783080"/>
            <a:ext cx="2743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6000" dirty="0"/>
          </a:p>
        </p:txBody>
      </p:sp>
      <p:sp>
        <p:nvSpPr>
          <p:cNvPr id="17" name="Text 15"/>
          <p:cNvSpPr/>
          <p:nvPr/>
        </p:nvSpPr>
        <p:spPr>
          <a:xfrm>
            <a:off x="7178040" y="2606040"/>
            <a:ext cx="3931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BFE0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diagnostic classes classified — from benign nevi to melanoma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7178040" y="3429000"/>
            <a:ext cx="4114800" cy="0"/>
          </a:xfrm>
          <a:prstGeom prst="line">
            <a:avLst/>
          </a:prstGeom>
          <a:noFill/>
          <a:ln w="12700">
            <a:solidFill>
              <a:srgbClr val="1E5A5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178040" y="3566160"/>
            <a:ext cx="3200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3FA7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10,015</a:t>
            </a:r>
            <a:endParaRPr lang="en-US" sz="4200" dirty="0"/>
          </a:p>
        </p:txBody>
      </p:sp>
      <p:sp>
        <p:nvSpPr>
          <p:cNvPr id="20" name="Text 18"/>
          <p:cNvSpPr/>
          <p:nvPr/>
        </p:nvSpPr>
        <p:spPr>
          <a:xfrm>
            <a:off x="7178040" y="4251960"/>
            <a:ext cx="3931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BFE0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dermatoscopic images in the HAM10000 benchmark dataset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7178040" y="5074920"/>
            <a:ext cx="4114800" cy="0"/>
          </a:xfrm>
          <a:prstGeom prst="line">
            <a:avLst/>
          </a:prstGeom>
          <a:noFill/>
          <a:ln w="12700">
            <a:solidFill>
              <a:srgbClr val="1E5A5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178040" y="5138928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E884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 models</a:t>
            </a:r>
            <a:endParaRPr lang="en-US" sz="2600" dirty="0"/>
          </a:p>
        </p:txBody>
      </p:sp>
      <p:sp>
        <p:nvSpPr>
          <p:cNvPr id="23" name="Text 21"/>
          <p:cNvSpPr/>
          <p:nvPr/>
        </p:nvSpPr>
        <p:spPr>
          <a:xfrm>
            <a:off x="7178040" y="5632704"/>
            <a:ext cx="4114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BFE0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benchmarked, from CNNs to an explainable graph neural network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11475720" y="6446520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71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85F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DATASET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latin typeface="Cambria" pitchFamily="34" charset="0"/>
                <a:ea typeface="Cambria" pitchFamily="34" charset="-122"/>
                <a:cs typeface="Cambria" pitchFamily="34" charset="-120"/>
              </a:rPr>
              <a:t>HAM10000: Human-Against-Machine 10,000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2161520" cy="128016"/>
          </a:xfrm>
          <a:prstGeom prst="rect">
            <a:avLst/>
          </a:prstGeom>
          <a:solidFill>
            <a:srgbClr val="0B7A75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481328"/>
            <a:ext cx="53949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A curated collection of multi-source dermatoscopic images covering seven pigmented lesion categories, widely used as a benchmark for automated skin lesion classification.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24688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chemeClr val="tx2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DISTRIBUTION</a:t>
            </a:r>
            <a:endParaRPr lang="en-US" sz="1100" dirty="0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7" name="Text 5"/>
          <p:cNvSpPr/>
          <p:nvPr/>
        </p:nvSpPr>
        <p:spPr>
          <a:xfrm>
            <a:off x="548640" y="2788920"/>
            <a:ext cx="777240" cy="292608"/>
          </a:xfrm>
          <a:prstGeom prst="rect">
            <a:avLst/>
          </a:prstGeom>
          <a:solidFill>
            <a:srgbClr val="3FA79A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nv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1417320" y="2788920"/>
            <a:ext cx="2606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Melanocytic nevi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069080" y="2788920"/>
            <a:ext cx="960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6,705</a:t>
            </a:r>
            <a:endParaRPr lang="en-US" sz="1100" dirty="0">
              <a:solidFill>
                <a:srgbClr val="FF0000"/>
              </a:solidFill>
            </a:endParaRPr>
          </a:p>
        </p:txBody>
      </p:sp>
      <p:sp>
        <p:nvSpPr>
          <p:cNvPr id="10" name="Text 8"/>
          <p:cNvSpPr/>
          <p:nvPr/>
        </p:nvSpPr>
        <p:spPr>
          <a:xfrm>
            <a:off x="548640" y="3150108"/>
            <a:ext cx="777240" cy="292608"/>
          </a:xfrm>
          <a:prstGeom prst="rect">
            <a:avLst/>
          </a:prstGeom>
          <a:solidFill>
            <a:srgbClr val="3FA79A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mel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1417320" y="3150108"/>
            <a:ext cx="2606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Melanoma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069080" y="3150108"/>
            <a:ext cx="960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1,113</a:t>
            </a:r>
            <a:endParaRPr lang="en-US" sz="1100" dirty="0">
              <a:solidFill>
                <a:srgbClr val="FF0000"/>
              </a:solidFill>
            </a:endParaRPr>
          </a:p>
        </p:txBody>
      </p:sp>
      <p:sp>
        <p:nvSpPr>
          <p:cNvPr id="13" name="Text 11"/>
          <p:cNvSpPr/>
          <p:nvPr/>
        </p:nvSpPr>
        <p:spPr>
          <a:xfrm>
            <a:off x="548640" y="3511296"/>
            <a:ext cx="777240" cy="292608"/>
          </a:xfrm>
          <a:prstGeom prst="rect">
            <a:avLst/>
          </a:prstGeom>
          <a:solidFill>
            <a:srgbClr val="3FA79A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bkl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1417320" y="3511296"/>
            <a:ext cx="2606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Benign keratosis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069080" y="3511296"/>
            <a:ext cx="960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1,099</a:t>
            </a:r>
            <a:endParaRPr lang="en-US" sz="1100" dirty="0">
              <a:solidFill>
                <a:srgbClr val="FF0000"/>
              </a:solidFill>
            </a:endParaRPr>
          </a:p>
        </p:txBody>
      </p:sp>
      <p:sp>
        <p:nvSpPr>
          <p:cNvPr id="16" name="Text 14"/>
          <p:cNvSpPr/>
          <p:nvPr/>
        </p:nvSpPr>
        <p:spPr>
          <a:xfrm>
            <a:off x="548640" y="3872484"/>
            <a:ext cx="777240" cy="292608"/>
          </a:xfrm>
          <a:prstGeom prst="rect">
            <a:avLst/>
          </a:prstGeom>
          <a:solidFill>
            <a:srgbClr val="3FA79A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bcc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1417320" y="3872484"/>
            <a:ext cx="2606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Basal cell carcinoma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069080" y="3872484"/>
            <a:ext cx="960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514</a:t>
            </a:r>
            <a:endParaRPr lang="en-US" sz="1100" dirty="0">
              <a:solidFill>
                <a:srgbClr val="FF0000"/>
              </a:solidFill>
            </a:endParaRPr>
          </a:p>
        </p:txBody>
      </p:sp>
      <p:sp>
        <p:nvSpPr>
          <p:cNvPr id="19" name="Text 17"/>
          <p:cNvSpPr/>
          <p:nvPr/>
        </p:nvSpPr>
        <p:spPr>
          <a:xfrm>
            <a:off x="548640" y="4233672"/>
            <a:ext cx="777240" cy="292608"/>
          </a:xfrm>
          <a:prstGeom prst="rect">
            <a:avLst/>
          </a:prstGeom>
          <a:solidFill>
            <a:srgbClr val="3FA79A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akiec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1417320" y="4233672"/>
            <a:ext cx="2606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Actinic keratoses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069080" y="4233672"/>
            <a:ext cx="960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327</a:t>
            </a:r>
            <a:endParaRPr lang="en-US" sz="1100" dirty="0">
              <a:solidFill>
                <a:srgbClr val="FF0000"/>
              </a:solidFill>
            </a:endParaRPr>
          </a:p>
        </p:txBody>
      </p:sp>
      <p:sp>
        <p:nvSpPr>
          <p:cNvPr id="22" name="Text 20"/>
          <p:cNvSpPr/>
          <p:nvPr/>
        </p:nvSpPr>
        <p:spPr>
          <a:xfrm>
            <a:off x="548640" y="4594860"/>
            <a:ext cx="777240" cy="292608"/>
          </a:xfrm>
          <a:prstGeom prst="rect">
            <a:avLst/>
          </a:prstGeom>
          <a:solidFill>
            <a:srgbClr val="3FA79A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vasc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1417320" y="4594860"/>
            <a:ext cx="2606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Vascular lesions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069080" y="4594860"/>
            <a:ext cx="960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142</a:t>
            </a:r>
            <a:endParaRPr lang="en-US" sz="1100" dirty="0">
              <a:solidFill>
                <a:srgbClr val="FF0000"/>
              </a:solidFill>
            </a:endParaRPr>
          </a:p>
        </p:txBody>
      </p:sp>
      <p:sp>
        <p:nvSpPr>
          <p:cNvPr id="25" name="Text 23"/>
          <p:cNvSpPr/>
          <p:nvPr/>
        </p:nvSpPr>
        <p:spPr>
          <a:xfrm>
            <a:off x="548640" y="4956048"/>
            <a:ext cx="777240" cy="292608"/>
          </a:xfrm>
          <a:prstGeom prst="rect">
            <a:avLst/>
          </a:prstGeom>
          <a:solidFill>
            <a:srgbClr val="3FA79A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df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1417320" y="4956048"/>
            <a:ext cx="2606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Dermatofibroma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069080" y="4956048"/>
            <a:ext cx="960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115</a:t>
            </a:r>
            <a:endParaRPr lang="en-US" sz="1100" dirty="0">
              <a:solidFill>
                <a:srgbClr val="FF0000"/>
              </a:solidFill>
            </a:endParaRPr>
          </a:p>
        </p:txBody>
      </p:sp>
      <p:pic>
        <p:nvPicPr>
          <p:cNvPr id="28" name="Image 0" descr="/home/claude/assets/disease_distribu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0" y="1481328"/>
            <a:ext cx="5486400" cy="3666744"/>
          </a:xfrm>
          <a:prstGeom prst="rect">
            <a:avLst/>
          </a:prstGeom>
        </p:spPr>
      </p:pic>
      <p:sp>
        <p:nvSpPr>
          <p:cNvPr id="29" name="Text 26"/>
          <p:cNvSpPr/>
          <p:nvPr/>
        </p:nvSpPr>
        <p:spPr>
          <a:xfrm>
            <a:off x="6172200" y="5257800"/>
            <a:ext cx="5486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Severe class imbalance: melanocytic nevi (nv) account for ~67% of all images — a central modeling challenge addressed throughout this project.</a:t>
            </a:r>
            <a:endParaRPr lang="en-US" sz="1100" dirty="0"/>
          </a:p>
        </p:txBody>
      </p:sp>
      <p:sp>
        <p:nvSpPr>
          <p:cNvPr id="30" name="Text 27"/>
          <p:cNvSpPr/>
          <p:nvPr/>
        </p:nvSpPr>
        <p:spPr>
          <a:xfrm>
            <a:off x="11475720" y="6446520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71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85F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PREPARATION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latin typeface="Cambria" pitchFamily="34" charset="0"/>
                <a:ea typeface="Cambria" pitchFamily="34" charset="-122"/>
                <a:cs typeface="Cambria" pitchFamily="34" charset="-120"/>
              </a:rPr>
              <a:t>Patient-Aware Splitting &amp; Demographics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2161520" cy="128016"/>
          </a:xfrm>
          <a:prstGeom prst="rect">
            <a:avLst/>
          </a:prstGeom>
          <a:solidFill>
            <a:srgbClr val="0B7A75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481328"/>
            <a:ext cx="53949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Images were split at the lesion level — not the image level — so that no lesion's photos appear in more than one split, preventing data leakage across training, validation, and test sets.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48640" y="2697480"/>
            <a:ext cx="1691640" cy="1600200"/>
          </a:xfrm>
          <a:prstGeom prst="roundRect">
            <a:avLst>
              <a:gd name="adj" fmla="val 4571"/>
            </a:avLst>
          </a:prstGeom>
          <a:solidFill>
            <a:srgbClr val="EAF5F3"/>
          </a:solidFill>
          <a:ln/>
        </p:spPr>
      </p:sp>
      <p:sp>
        <p:nvSpPr>
          <p:cNvPr id="7" name="Shape 5"/>
          <p:cNvSpPr/>
          <p:nvPr/>
        </p:nvSpPr>
        <p:spPr>
          <a:xfrm>
            <a:off x="548640" y="2697480"/>
            <a:ext cx="1691640" cy="82296"/>
          </a:xfrm>
          <a:prstGeom prst="rect">
            <a:avLst/>
          </a:prstGeom>
          <a:solidFill>
            <a:srgbClr val="0B7A75"/>
          </a:solidFill>
          <a:ln/>
        </p:spPr>
      </p:sp>
      <p:sp>
        <p:nvSpPr>
          <p:cNvPr id="8" name="Text 6"/>
          <p:cNvSpPr/>
          <p:nvPr/>
        </p:nvSpPr>
        <p:spPr>
          <a:xfrm>
            <a:off x="685800" y="288036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5C71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685800" y="3127248"/>
            <a:ext cx="1463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7,002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685800" y="379476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5C71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5,229 unique lesions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2395728" y="2697480"/>
            <a:ext cx="1691640" cy="1600200"/>
          </a:xfrm>
          <a:prstGeom prst="roundRect">
            <a:avLst>
              <a:gd name="adj" fmla="val 4571"/>
            </a:avLst>
          </a:prstGeom>
          <a:solidFill>
            <a:srgbClr val="EAF5F3"/>
          </a:solidFill>
          <a:ln/>
        </p:spPr>
      </p:sp>
      <p:sp>
        <p:nvSpPr>
          <p:cNvPr id="12" name="Shape 10"/>
          <p:cNvSpPr/>
          <p:nvPr/>
        </p:nvSpPr>
        <p:spPr>
          <a:xfrm>
            <a:off x="2395728" y="2697480"/>
            <a:ext cx="1691640" cy="82296"/>
          </a:xfrm>
          <a:prstGeom prst="rect">
            <a:avLst/>
          </a:prstGeom>
          <a:solidFill>
            <a:srgbClr val="3FA79A"/>
          </a:solidFill>
          <a:ln/>
        </p:spPr>
      </p:sp>
      <p:sp>
        <p:nvSpPr>
          <p:cNvPr id="13" name="Text 11"/>
          <p:cNvSpPr/>
          <p:nvPr/>
        </p:nvSpPr>
        <p:spPr>
          <a:xfrm>
            <a:off x="2532888" y="288036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5C71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2532888" y="3127248"/>
            <a:ext cx="1463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1,519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2532888" y="379476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5C71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1,120 unique lesions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242816" y="2697480"/>
            <a:ext cx="1691640" cy="1600200"/>
          </a:xfrm>
          <a:prstGeom prst="roundRect">
            <a:avLst>
              <a:gd name="adj" fmla="val 4571"/>
            </a:avLst>
          </a:prstGeom>
          <a:solidFill>
            <a:srgbClr val="EAF5F3"/>
          </a:solidFill>
          <a:ln/>
        </p:spPr>
      </p:sp>
      <p:sp>
        <p:nvSpPr>
          <p:cNvPr id="17" name="Shape 15"/>
          <p:cNvSpPr/>
          <p:nvPr/>
        </p:nvSpPr>
        <p:spPr>
          <a:xfrm>
            <a:off x="4242816" y="2697480"/>
            <a:ext cx="1691640" cy="82296"/>
          </a:xfrm>
          <a:prstGeom prst="rect">
            <a:avLst/>
          </a:prstGeom>
          <a:solidFill>
            <a:srgbClr val="E8843C"/>
          </a:solidFill>
          <a:ln/>
        </p:spPr>
      </p:sp>
      <p:sp>
        <p:nvSpPr>
          <p:cNvPr id="18" name="Text 16"/>
          <p:cNvSpPr/>
          <p:nvPr/>
        </p:nvSpPr>
        <p:spPr>
          <a:xfrm>
            <a:off x="4379976" y="288036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5C71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4379976" y="3127248"/>
            <a:ext cx="1463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1,494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4379976" y="379476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5C71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1,121 unique lesions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548640" y="4526280"/>
            <a:ext cx="5394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chemeClr val="accent6">
                    <a:lumMod val="20000"/>
                    <a:lumOff val="8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lesion overlap was found between any of the three splits.</a:t>
            </a:r>
            <a:endParaRPr lang="en-US" sz="1100" dirty="0">
              <a:solidFill>
                <a:schemeClr val="accent6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22" name="Text 20"/>
          <p:cNvSpPr/>
          <p:nvPr/>
        </p:nvSpPr>
        <p:spPr>
          <a:xfrm>
            <a:off x="548640" y="5074920"/>
            <a:ext cx="53949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Patients skew toward middle age (peak ~40–60 years), with a slightly higher share of male patients — both factors profiled during EDA to check for demographic bias.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6263640" y="1508760"/>
            <a:ext cx="3429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20" dirty="0">
                <a:solidFill>
                  <a:schemeClr val="accent6">
                    <a:lumMod val="20000"/>
                    <a:lumOff val="8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GENDER DISTRIBUTION</a:t>
            </a:r>
            <a:endParaRPr lang="en-US" sz="1000" dirty="0">
              <a:solidFill>
                <a:schemeClr val="accent6">
                  <a:lumMod val="20000"/>
                  <a:lumOff val="80000"/>
                </a:schemeClr>
              </a:solidFill>
            </a:endParaRPr>
          </a:p>
        </p:txBody>
      </p:sp>
      <p:pic>
        <p:nvPicPr>
          <p:cNvPr id="24" name="Image 0" descr="/home/claude/assets/gender_distribu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640" y="1810512"/>
            <a:ext cx="2734056" cy="1965960"/>
          </a:xfrm>
          <a:prstGeom prst="rect">
            <a:avLst/>
          </a:prstGeom>
        </p:spPr>
      </p:pic>
      <p:sp>
        <p:nvSpPr>
          <p:cNvPr id="25" name="Text 22"/>
          <p:cNvSpPr/>
          <p:nvPr/>
        </p:nvSpPr>
        <p:spPr>
          <a:xfrm>
            <a:off x="6263640" y="3913632"/>
            <a:ext cx="3429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20" dirty="0">
                <a:solidFill>
                  <a:schemeClr val="accent6">
                    <a:lumMod val="20000"/>
                    <a:lumOff val="8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 DISTRIBUTION</a:t>
            </a:r>
            <a:endParaRPr lang="en-US" sz="1000" dirty="0">
              <a:solidFill>
                <a:schemeClr val="accent6">
                  <a:lumMod val="20000"/>
                  <a:lumOff val="80000"/>
                </a:schemeClr>
              </a:solidFill>
            </a:endParaRPr>
          </a:p>
        </p:txBody>
      </p:sp>
      <p:pic>
        <p:nvPicPr>
          <p:cNvPr id="26" name="Image 1" descr="/home/claude/assets/age_distributi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63640" y="4215384"/>
            <a:ext cx="2953512" cy="1965960"/>
          </a:xfrm>
          <a:prstGeom prst="rect">
            <a:avLst/>
          </a:prstGeom>
        </p:spPr>
      </p:pic>
      <p:sp>
        <p:nvSpPr>
          <p:cNvPr id="27" name="Text 23"/>
          <p:cNvSpPr/>
          <p:nvPr/>
        </p:nvSpPr>
        <p:spPr>
          <a:xfrm>
            <a:off x="11475720" y="6446520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71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85F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27947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chemeClr val="accent6">
                    <a:lumMod val="20000"/>
                    <a:lumOff val="80000"/>
                  </a:scheme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End-to-End Pipeline</a:t>
            </a:r>
            <a:endParaRPr lang="en-US" sz="3000" dirty="0">
              <a:solidFill>
                <a:schemeClr val="accent6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2161520" cy="128016"/>
          </a:xfrm>
          <a:prstGeom prst="rect">
            <a:avLst/>
          </a:prstGeom>
          <a:solidFill>
            <a:srgbClr val="0B7A75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2194560"/>
            <a:ext cx="1965960" cy="2286000"/>
          </a:xfrm>
          <a:prstGeom prst="roundRect">
            <a:avLst>
              <a:gd name="adj" fmla="val 4186"/>
            </a:avLst>
          </a:prstGeom>
          <a:solidFill>
            <a:srgbClr val="EAF5F3"/>
          </a:solidFill>
          <a:ln/>
        </p:spPr>
      </p:sp>
      <p:sp>
        <p:nvSpPr>
          <p:cNvPr id="6" name="Shape 4"/>
          <p:cNvSpPr/>
          <p:nvPr/>
        </p:nvSpPr>
        <p:spPr>
          <a:xfrm>
            <a:off x="1275588" y="2450592"/>
            <a:ext cx="512064" cy="512064"/>
          </a:xfrm>
          <a:prstGeom prst="ellipse">
            <a:avLst/>
          </a:prstGeom>
          <a:solidFill>
            <a:srgbClr val="0B7A75"/>
          </a:solidFill>
          <a:ln/>
        </p:spPr>
      </p:sp>
      <p:sp>
        <p:nvSpPr>
          <p:cNvPr id="7" name="Text 5"/>
          <p:cNvSpPr/>
          <p:nvPr/>
        </p:nvSpPr>
        <p:spPr>
          <a:xfrm>
            <a:off x="1275588" y="2450592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58368" y="3108960"/>
            <a:ext cx="174650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1B2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85800" y="3611880"/>
            <a:ext cx="16916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50" dirty="0">
                <a:solidFill>
                  <a:srgbClr val="5C71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HAM10000 images resized &amp; normalized per backbone; lesion-level split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2514600" y="3108960"/>
            <a:ext cx="30861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B7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2823210" y="2194560"/>
            <a:ext cx="1965960" cy="2286000"/>
          </a:xfrm>
          <a:prstGeom prst="roundRect">
            <a:avLst>
              <a:gd name="adj" fmla="val 4186"/>
            </a:avLst>
          </a:prstGeom>
          <a:solidFill>
            <a:srgbClr val="EAF5F3"/>
          </a:solidFill>
          <a:ln/>
        </p:spPr>
      </p:sp>
      <p:sp>
        <p:nvSpPr>
          <p:cNvPr id="12" name="Shape 10"/>
          <p:cNvSpPr/>
          <p:nvPr/>
        </p:nvSpPr>
        <p:spPr>
          <a:xfrm>
            <a:off x="3550158" y="2450592"/>
            <a:ext cx="512064" cy="512064"/>
          </a:xfrm>
          <a:prstGeom prst="ellipse">
            <a:avLst/>
          </a:prstGeom>
          <a:solidFill>
            <a:srgbClr val="3FA79A"/>
          </a:solidFill>
          <a:ln/>
        </p:spPr>
      </p:sp>
      <p:sp>
        <p:nvSpPr>
          <p:cNvPr id="13" name="Text 11"/>
          <p:cNvSpPr/>
          <p:nvPr/>
        </p:nvSpPr>
        <p:spPr>
          <a:xfrm>
            <a:off x="3550158" y="2450592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2932938" y="3108960"/>
            <a:ext cx="174650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1B2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 Baselines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2960370" y="3611880"/>
            <a:ext cx="16916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50" dirty="0">
                <a:solidFill>
                  <a:srgbClr val="5C71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EfficientNet-B2 &amp; ResNet50 fine-tuned as classification baselines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4789170" y="3108960"/>
            <a:ext cx="30861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B7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5097780" y="2194560"/>
            <a:ext cx="1965960" cy="2286000"/>
          </a:xfrm>
          <a:prstGeom prst="roundRect">
            <a:avLst>
              <a:gd name="adj" fmla="val 4186"/>
            </a:avLst>
          </a:prstGeom>
          <a:solidFill>
            <a:srgbClr val="EAF5F3"/>
          </a:solidFill>
          <a:ln/>
        </p:spPr>
      </p:sp>
      <p:sp>
        <p:nvSpPr>
          <p:cNvPr id="18" name="Shape 16"/>
          <p:cNvSpPr/>
          <p:nvPr/>
        </p:nvSpPr>
        <p:spPr>
          <a:xfrm>
            <a:off x="5824728" y="2450592"/>
            <a:ext cx="512064" cy="512064"/>
          </a:xfrm>
          <a:prstGeom prst="ellipse">
            <a:avLst/>
          </a:prstGeom>
          <a:solidFill>
            <a:srgbClr val="3FA79A"/>
          </a:solidFill>
          <a:ln/>
        </p:spPr>
      </p:sp>
      <p:sp>
        <p:nvSpPr>
          <p:cNvPr id="19" name="Text 17"/>
          <p:cNvSpPr/>
          <p:nvPr/>
        </p:nvSpPr>
        <p:spPr>
          <a:xfrm>
            <a:off x="5824728" y="2450592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5207508" y="3108960"/>
            <a:ext cx="174650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1B2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Transformer</a:t>
            </a:r>
            <a:endParaRPr lang="en-US" sz="130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1B2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Ensembles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234940" y="3611880"/>
            <a:ext cx="16916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50" dirty="0">
                <a:solidFill>
                  <a:srgbClr val="5C71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Swin-Tiny &amp; ViT-B/16, each trained as 5-fold probability ensembles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7063740" y="3108960"/>
            <a:ext cx="30861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B7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23" name="Shape 21"/>
          <p:cNvSpPr/>
          <p:nvPr/>
        </p:nvSpPr>
        <p:spPr>
          <a:xfrm>
            <a:off x="7372350" y="2194560"/>
            <a:ext cx="1965960" cy="2286000"/>
          </a:xfrm>
          <a:prstGeom prst="roundRect">
            <a:avLst>
              <a:gd name="adj" fmla="val 4186"/>
            </a:avLst>
          </a:prstGeom>
          <a:solidFill>
            <a:srgbClr val="EAF5F3"/>
          </a:solidFill>
          <a:ln/>
        </p:spPr>
      </p:sp>
      <p:sp>
        <p:nvSpPr>
          <p:cNvPr id="24" name="Shape 22"/>
          <p:cNvSpPr/>
          <p:nvPr/>
        </p:nvSpPr>
        <p:spPr>
          <a:xfrm>
            <a:off x="8099298" y="2450592"/>
            <a:ext cx="512064" cy="512064"/>
          </a:xfrm>
          <a:prstGeom prst="ellipse">
            <a:avLst/>
          </a:prstGeom>
          <a:solidFill>
            <a:srgbClr val="E8843C"/>
          </a:solidFill>
          <a:ln/>
        </p:spPr>
      </p:sp>
      <p:sp>
        <p:nvSpPr>
          <p:cNvPr id="25" name="Text 23"/>
          <p:cNvSpPr/>
          <p:nvPr/>
        </p:nvSpPr>
        <p:spPr>
          <a:xfrm>
            <a:off x="8099298" y="2450592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7482078" y="3108960"/>
            <a:ext cx="174650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1B2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Explainable GNN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7509510" y="3611880"/>
            <a:ext cx="16916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50" dirty="0">
                <a:solidFill>
                  <a:srgbClr val="5C71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GATv2 graph-attention pipeline built for interpretable predictions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9338310" y="3108960"/>
            <a:ext cx="30861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B7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29" name="Shape 27"/>
          <p:cNvSpPr/>
          <p:nvPr/>
        </p:nvSpPr>
        <p:spPr>
          <a:xfrm>
            <a:off x="9646920" y="2194560"/>
            <a:ext cx="1965960" cy="2286000"/>
          </a:xfrm>
          <a:prstGeom prst="roundRect">
            <a:avLst>
              <a:gd name="adj" fmla="val 4186"/>
            </a:avLst>
          </a:prstGeom>
          <a:solidFill>
            <a:srgbClr val="EAF5F3"/>
          </a:solidFill>
          <a:ln/>
        </p:spPr>
      </p:sp>
      <p:sp>
        <p:nvSpPr>
          <p:cNvPr id="30" name="Shape 28"/>
          <p:cNvSpPr/>
          <p:nvPr/>
        </p:nvSpPr>
        <p:spPr>
          <a:xfrm>
            <a:off x="10373868" y="2450592"/>
            <a:ext cx="512064" cy="512064"/>
          </a:xfrm>
          <a:prstGeom prst="ellipse">
            <a:avLst/>
          </a:prstGeom>
          <a:solidFill>
            <a:srgbClr val="0A2E2E"/>
          </a:solidFill>
          <a:ln/>
        </p:spPr>
      </p:sp>
      <p:sp>
        <p:nvSpPr>
          <p:cNvPr id="31" name="Text 29"/>
          <p:cNvSpPr/>
          <p:nvPr/>
        </p:nvSpPr>
        <p:spPr>
          <a:xfrm>
            <a:off x="10373868" y="2450592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9756648" y="3108960"/>
            <a:ext cx="174650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1B2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Explainability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9784080" y="3611880"/>
            <a:ext cx="16916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50" dirty="0">
                <a:solidFill>
                  <a:srgbClr val="5C71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Attention rollout visualizes the lesion regions driving each decision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548640" y="4892040"/>
            <a:ext cx="10241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i="1" dirty="0">
                <a:solidFill>
                  <a:schemeClr val="accent6">
                    <a:lumMod val="20000"/>
                    <a:lumOff val="8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strong black-box lines (CNN &amp; transformer) establish the accuracy ceiling; the GNN branch trades a little peak accuracy for built-in, attention-based interpretability.</a:t>
            </a:r>
            <a:endParaRPr lang="en-US" sz="1250" dirty="0">
              <a:solidFill>
                <a:schemeClr val="accent6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35" name="Text 33"/>
          <p:cNvSpPr/>
          <p:nvPr/>
        </p:nvSpPr>
        <p:spPr>
          <a:xfrm>
            <a:off x="11475720" y="6446520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71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85F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MODELS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latin typeface="Cambria" pitchFamily="34" charset="0"/>
                <a:ea typeface="Cambria" pitchFamily="34" charset="-122"/>
                <a:cs typeface="Cambria" pitchFamily="34" charset="-120"/>
              </a:rPr>
              <a:t>Convolutional Networks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2161520" cy="128016"/>
          </a:xfrm>
          <a:prstGeom prst="rect">
            <a:avLst/>
          </a:prstGeom>
          <a:solidFill>
            <a:srgbClr val="0B7A75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463040"/>
            <a:ext cx="5394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EfficientNet-B2 and ResNet50 were fine-tuned end-to-end as strong conventional baselines before introducing transformer and graph-based architectures.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640080" y="2423160"/>
            <a:ext cx="2240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chemeClr val="accent6">
                    <a:lumMod val="20000"/>
                    <a:lumOff val="8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</a:t>
            </a:r>
            <a:endParaRPr lang="en-US" sz="1150" dirty="0">
              <a:solidFill>
                <a:schemeClr val="accent6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7" name="Text 5"/>
          <p:cNvSpPr/>
          <p:nvPr/>
        </p:nvSpPr>
        <p:spPr>
          <a:xfrm>
            <a:off x="2880360" y="2423160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chemeClr val="accent6">
                    <a:lumMod val="20000"/>
                    <a:lumOff val="8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EfficientNet-B2</a:t>
            </a:r>
            <a:endParaRPr lang="en-US" sz="1150" dirty="0">
              <a:solidFill>
                <a:schemeClr val="accent6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8" name="Text 6"/>
          <p:cNvSpPr/>
          <p:nvPr/>
        </p:nvSpPr>
        <p:spPr>
          <a:xfrm>
            <a:off x="4251960" y="2423160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chemeClr val="accent6">
                    <a:lumMod val="20000"/>
                    <a:lumOff val="8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ResNet50</a:t>
            </a:r>
            <a:endParaRPr lang="en-US" sz="1150" dirty="0">
              <a:solidFill>
                <a:schemeClr val="accent6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9" name="Shape 7"/>
          <p:cNvSpPr/>
          <p:nvPr/>
        </p:nvSpPr>
        <p:spPr>
          <a:xfrm>
            <a:off x="548640" y="2807208"/>
            <a:ext cx="5074920" cy="0"/>
          </a:xfrm>
          <a:prstGeom prst="line">
            <a:avLst/>
          </a:prstGeom>
          <a:noFill/>
          <a:ln w="19050">
            <a:solidFill>
              <a:srgbClr val="0B7A7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2807208"/>
            <a:ext cx="2240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Test Accuracy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2880360" y="2807208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80.52%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4251960" y="2807208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78.51%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48640" y="3191256"/>
            <a:ext cx="5074920" cy="384048"/>
          </a:xfrm>
          <a:prstGeom prst="rect">
            <a:avLst/>
          </a:prstGeom>
          <a:solidFill>
            <a:srgbClr val="EAF5F3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3191256"/>
            <a:ext cx="2240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B2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Macro Precision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2880360" y="3191256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1B2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59.56%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4251960" y="3191256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1B2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56.72%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640080" y="3575304"/>
            <a:ext cx="2240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Macro Recall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2880360" y="3575304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66.38%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4251960" y="3575304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69.18</a:t>
            </a:r>
            <a:r>
              <a:rPr lang="en-US" sz="1150" dirty="0">
                <a:solidFill>
                  <a:srgbClr val="1B2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48640" y="3959352"/>
            <a:ext cx="5074920" cy="384048"/>
          </a:xfrm>
          <a:prstGeom prst="rect">
            <a:avLst/>
          </a:prstGeom>
          <a:solidFill>
            <a:srgbClr val="EAF5F3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" y="3959352"/>
            <a:ext cx="2240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B2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Macro F1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2880360" y="3959352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1B2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61.52%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4251960" y="3959352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1B2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58.87%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640080" y="4343400"/>
            <a:ext cx="2240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B2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Weighted F1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2880360" y="4343400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1B2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80.50%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4251960" y="4343400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1B2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78.05%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548640" y="5029200"/>
            <a:ext cx="53949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i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EfficientNet-B2 edges out ResNet50 on accuracy and F1, but both baselines struggle on rare classes (df, akiec) — motivating the ensemble and GNN approaches ahead.</a:t>
            </a:r>
            <a:endParaRPr lang="en-US" sz="1150" dirty="0"/>
          </a:p>
        </p:txBody>
      </p:sp>
      <p:pic>
        <p:nvPicPr>
          <p:cNvPr id="28" name="Image 0" descr="/home/claude/assets/effnet_confmatrix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86600" y="1600200"/>
            <a:ext cx="4526280" cy="4211558"/>
          </a:xfrm>
          <a:prstGeom prst="rect">
            <a:avLst/>
          </a:prstGeom>
        </p:spPr>
      </p:pic>
      <p:sp>
        <p:nvSpPr>
          <p:cNvPr id="29" name="Text 26"/>
          <p:cNvSpPr/>
          <p:nvPr/>
        </p:nvSpPr>
        <p:spPr>
          <a:xfrm>
            <a:off x="7086600" y="5921486"/>
            <a:ext cx="4526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C71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EfficientNet-B2 — Test Confusion Matrix</a:t>
            </a:r>
            <a:endParaRPr lang="en-US" sz="1050" dirty="0"/>
          </a:p>
        </p:txBody>
      </p:sp>
      <p:sp>
        <p:nvSpPr>
          <p:cNvPr id="30" name="Text 27"/>
          <p:cNvSpPr/>
          <p:nvPr/>
        </p:nvSpPr>
        <p:spPr>
          <a:xfrm>
            <a:off x="11475720" y="6446520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71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85F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TRANSFORMER ENSEMBLES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chemeClr val="accent6">
                    <a:lumMod val="20000"/>
                    <a:lumOff val="80000"/>
                  </a:scheme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Swin-Tiny &amp; ViT-B/16</a:t>
            </a:r>
            <a:endParaRPr lang="en-US" sz="3000" dirty="0">
              <a:solidFill>
                <a:schemeClr val="accent6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2161520" cy="128016"/>
          </a:xfrm>
          <a:prstGeom prst="rect">
            <a:avLst/>
          </a:prstGeom>
          <a:solidFill>
            <a:srgbClr val="0B7A75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4630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Both transformer backbones were trained as 5-fold cross-validation ensembles, then combined via probability averaging for the final test prediction — substantially lifting accuracy over the CNN baselines.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48640" y="2331720"/>
            <a:ext cx="3429000" cy="3429000"/>
          </a:xfrm>
          <a:prstGeom prst="roundRect">
            <a:avLst>
              <a:gd name="adj" fmla="val 2400"/>
            </a:avLst>
          </a:prstGeom>
          <a:solidFill>
            <a:srgbClr val="EAF5F3"/>
          </a:solidFill>
          <a:ln/>
        </p:spPr>
      </p:sp>
      <p:sp>
        <p:nvSpPr>
          <p:cNvPr id="7" name="Shape 5"/>
          <p:cNvSpPr/>
          <p:nvPr/>
        </p:nvSpPr>
        <p:spPr>
          <a:xfrm>
            <a:off x="548640" y="2331720"/>
            <a:ext cx="3429000" cy="82296"/>
          </a:xfrm>
          <a:prstGeom prst="rect">
            <a:avLst/>
          </a:prstGeom>
          <a:solidFill>
            <a:srgbClr val="0B7A75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2542032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2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Swin-Tiny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777240" y="292608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5C71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5-fold probability ensemble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777240" y="3310128"/>
            <a:ext cx="1920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C71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Accuracy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2514600" y="3310128"/>
            <a:ext cx="12344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085F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85.46%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77240" y="3694176"/>
            <a:ext cx="1920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C71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Macro Precision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2514600" y="3694176"/>
            <a:ext cx="12344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085F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76.32%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777240" y="4078224"/>
            <a:ext cx="1920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C71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Macro Recall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2514600" y="4078224"/>
            <a:ext cx="12344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085F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73.95%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777240" y="4462272"/>
            <a:ext cx="1920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C71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Macro F1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2514600" y="4462272"/>
            <a:ext cx="12344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085F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72.89%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777240" y="4846320"/>
            <a:ext cx="1920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C71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Macro ROC-AUC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2514600" y="4846320"/>
            <a:ext cx="12344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085F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97.29%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206240" y="2331720"/>
            <a:ext cx="3429000" cy="3429000"/>
          </a:xfrm>
          <a:prstGeom prst="roundRect">
            <a:avLst>
              <a:gd name="adj" fmla="val 2400"/>
            </a:avLst>
          </a:prstGeom>
          <a:solidFill>
            <a:srgbClr val="EAF5F3"/>
          </a:solidFill>
          <a:ln/>
        </p:spPr>
      </p:sp>
      <p:sp>
        <p:nvSpPr>
          <p:cNvPr id="21" name="Shape 19"/>
          <p:cNvSpPr/>
          <p:nvPr/>
        </p:nvSpPr>
        <p:spPr>
          <a:xfrm>
            <a:off x="4206240" y="2331720"/>
            <a:ext cx="3429000" cy="82296"/>
          </a:xfrm>
          <a:prstGeom prst="rect">
            <a:avLst/>
          </a:prstGeom>
          <a:solidFill>
            <a:srgbClr val="E8843C"/>
          </a:solidFill>
          <a:ln/>
        </p:spPr>
      </p:sp>
      <p:sp>
        <p:nvSpPr>
          <p:cNvPr id="22" name="Text 20"/>
          <p:cNvSpPr/>
          <p:nvPr/>
        </p:nvSpPr>
        <p:spPr>
          <a:xfrm>
            <a:off x="4434840" y="2542032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2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ViT-B/16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4434840" y="292608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5C71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5-fold probability ensemble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4434840" y="3310128"/>
            <a:ext cx="1920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C71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Accuracy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6172200" y="3310128"/>
            <a:ext cx="12344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085F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86.52%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434840" y="3694176"/>
            <a:ext cx="1920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C71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Macro Precision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6172200" y="3694176"/>
            <a:ext cx="12344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085F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77.72%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434840" y="4078224"/>
            <a:ext cx="1920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C71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Macro Recall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6172200" y="4078224"/>
            <a:ext cx="12344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085F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78.59%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4434840" y="4462272"/>
            <a:ext cx="1920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C71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Macro F1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6172200" y="4462272"/>
            <a:ext cx="12344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085F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77.77%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4434840" y="4846320"/>
            <a:ext cx="1920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C71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Weighted F1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6172200" y="4846320"/>
            <a:ext cx="12344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085F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86.77%</a:t>
            </a:r>
            <a:endParaRPr lang="en-US" sz="1300" dirty="0"/>
          </a:p>
        </p:txBody>
      </p:sp>
      <p:pic>
        <p:nvPicPr>
          <p:cNvPr id="34" name="Image 0" descr="/home/claude/assets/vit_confmatrix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92440" y="2331720"/>
            <a:ext cx="3520440" cy="2788920"/>
          </a:xfrm>
          <a:prstGeom prst="rect">
            <a:avLst/>
          </a:prstGeom>
        </p:spPr>
      </p:pic>
      <p:sp>
        <p:nvSpPr>
          <p:cNvPr id="35" name="Text 32"/>
          <p:cNvSpPr/>
          <p:nvPr/>
        </p:nvSpPr>
        <p:spPr>
          <a:xfrm>
            <a:off x="8092440" y="5166360"/>
            <a:ext cx="3520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950" dirty="0">
                <a:solidFill>
                  <a:srgbClr val="5C71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ViT-B/16 Five-Fold Ensemble — One-vs-Rest ROC Curves</a:t>
            </a:r>
            <a:endParaRPr lang="en-US" sz="950" dirty="0"/>
          </a:p>
        </p:txBody>
      </p:sp>
      <p:sp>
        <p:nvSpPr>
          <p:cNvPr id="36" name="Text 33"/>
          <p:cNvSpPr/>
          <p:nvPr/>
        </p:nvSpPr>
        <p:spPr>
          <a:xfrm>
            <a:off x="11475720" y="6446520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71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85F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 RESULTS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chemeClr val="accent6">
                    <a:lumMod val="20000"/>
                    <a:lumOff val="80000"/>
                  </a:scheme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Backbone Model Comparison</a:t>
            </a:r>
            <a:endParaRPr lang="en-US" sz="3000" dirty="0">
              <a:solidFill>
                <a:schemeClr val="accent6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2161520" cy="128016"/>
          </a:xfrm>
          <a:prstGeom prst="rect">
            <a:avLst/>
          </a:prstGeom>
          <a:solidFill>
            <a:srgbClr val="0B7A75"/>
          </a:solidFill>
          <a:ln/>
        </p:spPr>
      </p:sp>
      <p:graphicFrame>
        <p:nvGraphicFramePr>
          <p:cNvPr id="5" name="Chart 0"/>
          <p:cNvGraphicFramePr/>
          <p:nvPr>
            <p:extLst>
              <p:ext uri="{D42A27DB-BD31-4B8C-83A1-F6EECF244321}">
                <p14:modId xmlns:p14="http://schemas.microsoft.com/office/powerpoint/2010/main" val="806430887"/>
              </p:ext>
            </p:extLst>
          </p:nvPr>
        </p:nvGraphicFramePr>
        <p:xfrm>
          <a:off x="548640" y="1508760"/>
          <a:ext cx="11064240" cy="44348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Text 3"/>
          <p:cNvSpPr/>
          <p:nvPr/>
        </p:nvSpPr>
        <p:spPr>
          <a:xfrm>
            <a:off x="548640" y="608076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The transformer ensembles clearly outperform the CNN baselines. ViT-B/16 leads on every metric — but neither offers a built-in visual explanation of its decisions.</a:t>
            </a:r>
            <a:endParaRPr lang="en-US" sz="1150" dirty="0"/>
          </a:p>
        </p:txBody>
      </p:sp>
      <p:sp>
        <p:nvSpPr>
          <p:cNvPr id="7" name="Text 4"/>
          <p:cNvSpPr/>
          <p:nvPr/>
        </p:nvSpPr>
        <p:spPr>
          <a:xfrm>
            <a:off x="11475720" y="6446520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71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85F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EXPLAINABLE MODEL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latin typeface="Cambria" pitchFamily="34" charset="0"/>
                <a:ea typeface="Cambria" pitchFamily="34" charset="-122"/>
                <a:cs typeface="Cambria" pitchFamily="34" charset="-120"/>
              </a:rPr>
              <a:t>Graph Attention Network (GATv2)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2161520" cy="128016"/>
          </a:xfrm>
          <a:prstGeom prst="rect">
            <a:avLst/>
          </a:prstGeom>
          <a:solidFill>
            <a:srgbClr val="0B7A75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481328"/>
            <a:ext cx="58064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2000"/>
              </a:lnSpc>
              <a:buNone/>
            </a:pPr>
            <a:r>
              <a:rPr lang="en-US" sz="13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Rather than treating an image as a flat grid, the GNN pipeline represents each lesion as a graph of interrelated regions and applies Graph Attention (GATv2) layers — so every prediction carries a natural, attention-based explanation of which regions mattered most.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2880360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chemeClr val="accent6">
                    <a:lumMod val="20000"/>
                    <a:lumOff val="8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</a:t>
            </a:r>
            <a:endParaRPr lang="en-US" sz="1150" dirty="0">
              <a:solidFill>
                <a:schemeClr val="accent6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7" name="Text 5"/>
          <p:cNvSpPr/>
          <p:nvPr/>
        </p:nvSpPr>
        <p:spPr>
          <a:xfrm>
            <a:off x="2926080" y="2880360"/>
            <a:ext cx="1417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chemeClr val="accent6">
                    <a:lumMod val="20000"/>
                    <a:lumOff val="8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 GATv2</a:t>
            </a:r>
            <a:endParaRPr lang="en-US" sz="1150" dirty="0">
              <a:solidFill>
                <a:schemeClr val="accent6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8" name="Text 6"/>
          <p:cNvSpPr/>
          <p:nvPr/>
        </p:nvSpPr>
        <p:spPr>
          <a:xfrm>
            <a:off x="4343400" y="2880360"/>
            <a:ext cx="1417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chemeClr val="accent6">
                    <a:lumMod val="20000"/>
                    <a:lumOff val="8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GNN</a:t>
            </a:r>
            <a:endParaRPr lang="en-US" sz="1150" dirty="0">
              <a:solidFill>
                <a:schemeClr val="accent6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9" name="Shape 7"/>
          <p:cNvSpPr/>
          <p:nvPr/>
        </p:nvSpPr>
        <p:spPr>
          <a:xfrm>
            <a:off x="548640" y="3264408"/>
            <a:ext cx="5212080" cy="0"/>
          </a:xfrm>
          <a:prstGeom prst="line">
            <a:avLst/>
          </a:prstGeom>
          <a:noFill/>
          <a:ln w="19050">
            <a:solidFill>
              <a:srgbClr val="0B7A7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3264408"/>
            <a:ext cx="2286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chemeClr val="accent6">
                    <a:lumMod val="20000"/>
                    <a:lumOff val="8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1150" dirty="0">
              <a:solidFill>
                <a:schemeClr val="accent6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11" name="Text 9"/>
          <p:cNvSpPr/>
          <p:nvPr/>
        </p:nvSpPr>
        <p:spPr>
          <a:xfrm>
            <a:off x="2926080" y="3264408"/>
            <a:ext cx="1417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chemeClr val="accent6">
                    <a:lumMod val="20000"/>
                    <a:lumOff val="8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73.37%</a:t>
            </a:r>
            <a:endParaRPr lang="en-US" sz="1150" dirty="0">
              <a:solidFill>
                <a:schemeClr val="accent6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12" name="Text 10"/>
          <p:cNvSpPr/>
          <p:nvPr/>
        </p:nvSpPr>
        <p:spPr>
          <a:xfrm>
            <a:off x="4343400" y="3264408"/>
            <a:ext cx="1417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chemeClr val="accent6">
                    <a:lumMod val="20000"/>
                    <a:lumOff val="8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75.43%</a:t>
            </a:r>
            <a:endParaRPr lang="en-US" sz="1150" dirty="0">
              <a:solidFill>
                <a:schemeClr val="accent6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13" name="Shape 11"/>
          <p:cNvSpPr/>
          <p:nvPr/>
        </p:nvSpPr>
        <p:spPr>
          <a:xfrm>
            <a:off x="548640" y="3648456"/>
            <a:ext cx="5212080" cy="384048"/>
          </a:xfrm>
          <a:prstGeom prst="rect">
            <a:avLst/>
          </a:prstGeom>
          <a:solidFill>
            <a:srgbClr val="EAF5F3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3648456"/>
            <a:ext cx="2286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B2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Macro F1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2926080" y="3648456"/>
            <a:ext cx="1417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1B2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53.58%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4343400" y="3648456"/>
            <a:ext cx="1417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1B2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640080" y="4032504"/>
            <a:ext cx="2286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chemeClr val="accent6">
                    <a:lumMod val="20000"/>
                    <a:lumOff val="8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Macro AUC</a:t>
            </a:r>
            <a:endParaRPr lang="en-US" sz="1150" dirty="0">
              <a:solidFill>
                <a:schemeClr val="accent6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18" name="Text 16"/>
          <p:cNvSpPr/>
          <p:nvPr/>
        </p:nvSpPr>
        <p:spPr>
          <a:xfrm>
            <a:off x="2926080" y="4032504"/>
            <a:ext cx="1417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chemeClr val="accent6">
                    <a:lumMod val="20000"/>
                    <a:lumOff val="8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86.61%</a:t>
            </a:r>
            <a:endParaRPr lang="en-US" sz="1150" dirty="0">
              <a:solidFill>
                <a:schemeClr val="accent6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19" name="Text 17"/>
          <p:cNvSpPr/>
          <p:nvPr/>
        </p:nvSpPr>
        <p:spPr>
          <a:xfrm>
            <a:off x="4343400" y="4032504"/>
            <a:ext cx="1417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1B2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</a:t>
            </a:r>
            <a:r>
              <a:rPr lang="en-US" sz="1150" dirty="0">
                <a:solidFill>
                  <a:schemeClr val="accent6">
                    <a:lumMod val="20000"/>
                    <a:lumOff val="8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88.1%</a:t>
            </a:r>
            <a:endParaRPr lang="en-US" sz="1150" dirty="0">
              <a:solidFill>
                <a:schemeClr val="accent6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20" name="Shape 18"/>
          <p:cNvSpPr/>
          <p:nvPr/>
        </p:nvSpPr>
        <p:spPr>
          <a:xfrm>
            <a:off x="548640" y="4416552"/>
            <a:ext cx="5212080" cy="384048"/>
          </a:xfrm>
          <a:prstGeom prst="rect">
            <a:avLst/>
          </a:prstGeom>
          <a:solidFill>
            <a:srgbClr val="EAF5F3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" y="4416552"/>
            <a:ext cx="2286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B2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Time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2926080" y="4416552"/>
            <a:ext cx="1417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1B2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87.30 s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4343400" y="4416552"/>
            <a:ext cx="1417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1B2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548640" y="5166360"/>
            <a:ext cx="5806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i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Iterating on the graph construction and attention design improved both accuracy and macro AUC over the initial GATv2 baseline — while preserving interpretability</a:t>
            </a:r>
            <a:r>
              <a:rPr lang="en-US" sz="1150" i="1" dirty="0">
                <a:solidFill>
                  <a:srgbClr val="5C71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150" dirty="0"/>
          </a:p>
        </p:txBody>
      </p:sp>
      <p:pic>
        <p:nvPicPr>
          <p:cNvPr id="25" name="Image 0" descr="/home/claude/assets/gatv2_initial_result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20840" y="1481328"/>
            <a:ext cx="4892040" cy="4306824"/>
          </a:xfrm>
          <a:prstGeom prst="rect">
            <a:avLst/>
          </a:prstGeom>
        </p:spPr>
      </p:pic>
      <p:sp>
        <p:nvSpPr>
          <p:cNvPr id="26" name="Text 23"/>
          <p:cNvSpPr/>
          <p:nvPr/>
        </p:nvSpPr>
        <p:spPr>
          <a:xfrm>
            <a:off x="6720840" y="5870448"/>
            <a:ext cx="4892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Initial GATv2 — Test Results &amp; Classification Report</a:t>
            </a:r>
            <a:endParaRPr lang="en-US" sz="1050" dirty="0"/>
          </a:p>
        </p:txBody>
      </p:sp>
      <p:sp>
        <p:nvSpPr>
          <p:cNvPr id="27" name="Text 24"/>
          <p:cNvSpPr/>
          <p:nvPr/>
        </p:nvSpPr>
        <p:spPr>
          <a:xfrm>
            <a:off x="11475720" y="6446520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71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85F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EXPLAINABLE MODEL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chemeClr val="accent6">
                    <a:lumMod val="20000"/>
                    <a:lumOff val="80000"/>
                  </a:scheme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Final GNN — Test Performance</a:t>
            </a:r>
            <a:endParaRPr lang="en-US" sz="3000" dirty="0">
              <a:solidFill>
                <a:schemeClr val="accent6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2161520" cy="128016"/>
          </a:xfrm>
          <a:prstGeom prst="rect">
            <a:avLst/>
          </a:prstGeom>
          <a:solidFill>
            <a:srgbClr val="0B7A75"/>
          </a:solidFill>
          <a:ln/>
        </p:spPr>
      </p:sp>
      <p:pic>
        <p:nvPicPr>
          <p:cNvPr id="5" name="Image 0" descr="/home/claude/assets/final_gnn_confmatrix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600200"/>
            <a:ext cx="5074920" cy="445312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6108192"/>
            <a:ext cx="5074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Final GNN — Test Confusion Matrix</a:t>
            </a:r>
            <a:endParaRPr lang="en-US" sz="1050" dirty="0"/>
          </a:p>
        </p:txBody>
      </p:sp>
      <p:pic>
        <p:nvPicPr>
          <p:cNvPr id="7" name="Image 1" descr="/home/claude/assets/final_gnn_ro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89320" y="1691640"/>
            <a:ext cx="5669280" cy="2231136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989320" y="3913632"/>
            <a:ext cx="5669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Final GNN — One-vs-Rest ROC Curves</a:t>
            </a:r>
            <a:endParaRPr lang="en-US" sz="1050" dirty="0"/>
          </a:p>
        </p:txBody>
      </p:sp>
      <p:sp>
        <p:nvSpPr>
          <p:cNvPr id="9" name="Text 5"/>
          <p:cNvSpPr/>
          <p:nvPr/>
        </p:nvSpPr>
        <p:spPr>
          <a:xfrm>
            <a:off x="5989320" y="4434840"/>
            <a:ext cx="5669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chemeClr val="accent6">
                    <a:lumMod val="20000"/>
                    <a:lumOff val="8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PER-CLASS ROC-AUC</a:t>
            </a:r>
            <a:endParaRPr lang="en-US" sz="1100" dirty="0">
              <a:solidFill>
                <a:schemeClr val="accent6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10" name="Shape 6"/>
          <p:cNvSpPr/>
          <p:nvPr/>
        </p:nvSpPr>
        <p:spPr>
          <a:xfrm>
            <a:off x="5989320" y="4800600"/>
            <a:ext cx="1298448" cy="566928"/>
          </a:xfrm>
          <a:prstGeom prst="roundRect">
            <a:avLst>
              <a:gd name="adj" fmla="val 9677"/>
            </a:avLst>
          </a:prstGeom>
          <a:solidFill>
            <a:srgbClr val="EAF5F3"/>
          </a:solidFill>
          <a:ln/>
        </p:spPr>
      </p:sp>
      <p:sp>
        <p:nvSpPr>
          <p:cNvPr id="11" name="Text 7"/>
          <p:cNvSpPr/>
          <p:nvPr/>
        </p:nvSpPr>
        <p:spPr>
          <a:xfrm>
            <a:off x="5989320" y="4855464"/>
            <a:ext cx="129844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5C71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nv</a:t>
            </a:r>
            <a:endParaRPr lang="en-US" sz="950" dirty="0"/>
          </a:p>
        </p:txBody>
      </p:sp>
      <p:sp>
        <p:nvSpPr>
          <p:cNvPr id="12" name="Text 8"/>
          <p:cNvSpPr/>
          <p:nvPr/>
        </p:nvSpPr>
        <p:spPr>
          <a:xfrm>
            <a:off x="5989320" y="5056632"/>
            <a:ext cx="12984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85F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0.928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7406640" y="4800600"/>
            <a:ext cx="1298448" cy="566928"/>
          </a:xfrm>
          <a:prstGeom prst="roundRect">
            <a:avLst>
              <a:gd name="adj" fmla="val 9677"/>
            </a:avLst>
          </a:prstGeom>
          <a:solidFill>
            <a:srgbClr val="EAF5F3"/>
          </a:solidFill>
          <a:ln/>
        </p:spPr>
      </p:sp>
      <p:sp>
        <p:nvSpPr>
          <p:cNvPr id="14" name="Text 10"/>
          <p:cNvSpPr/>
          <p:nvPr/>
        </p:nvSpPr>
        <p:spPr>
          <a:xfrm>
            <a:off x="7406640" y="4855464"/>
            <a:ext cx="129844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5C71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bcc</a:t>
            </a:r>
            <a:endParaRPr lang="en-US" sz="950" dirty="0"/>
          </a:p>
        </p:txBody>
      </p:sp>
      <p:sp>
        <p:nvSpPr>
          <p:cNvPr id="15" name="Text 11"/>
          <p:cNvSpPr/>
          <p:nvPr/>
        </p:nvSpPr>
        <p:spPr>
          <a:xfrm>
            <a:off x="7406640" y="5056632"/>
            <a:ext cx="12984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85F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0.903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8823960" y="4800600"/>
            <a:ext cx="1298448" cy="566928"/>
          </a:xfrm>
          <a:prstGeom prst="roundRect">
            <a:avLst>
              <a:gd name="adj" fmla="val 9677"/>
            </a:avLst>
          </a:prstGeom>
          <a:solidFill>
            <a:srgbClr val="EAF5F3"/>
          </a:solidFill>
          <a:ln/>
        </p:spPr>
      </p:sp>
      <p:sp>
        <p:nvSpPr>
          <p:cNvPr id="17" name="Text 13"/>
          <p:cNvSpPr/>
          <p:nvPr/>
        </p:nvSpPr>
        <p:spPr>
          <a:xfrm>
            <a:off x="8823960" y="4855464"/>
            <a:ext cx="129844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5C71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vasc</a:t>
            </a:r>
            <a:endParaRPr lang="en-US" sz="950" dirty="0"/>
          </a:p>
        </p:txBody>
      </p:sp>
      <p:sp>
        <p:nvSpPr>
          <p:cNvPr id="18" name="Text 14"/>
          <p:cNvSpPr/>
          <p:nvPr/>
        </p:nvSpPr>
        <p:spPr>
          <a:xfrm>
            <a:off x="8823960" y="5056632"/>
            <a:ext cx="12984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85F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0.896</a:t>
            </a:r>
            <a:endParaRPr lang="en-US" sz="1300" dirty="0"/>
          </a:p>
        </p:txBody>
      </p:sp>
      <p:sp>
        <p:nvSpPr>
          <p:cNvPr id="19" name="Shape 15"/>
          <p:cNvSpPr/>
          <p:nvPr/>
        </p:nvSpPr>
        <p:spPr>
          <a:xfrm>
            <a:off x="10241280" y="4800600"/>
            <a:ext cx="1298448" cy="566928"/>
          </a:xfrm>
          <a:prstGeom prst="roundRect">
            <a:avLst>
              <a:gd name="adj" fmla="val 9677"/>
            </a:avLst>
          </a:prstGeom>
          <a:solidFill>
            <a:srgbClr val="EAF5F3"/>
          </a:solidFill>
          <a:ln/>
        </p:spPr>
      </p:sp>
      <p:sp>
        <p:nvSpPr>
          <p:cNvPr id="20" name="Text 16"/>
          <p:cNvSpPr/>
          <p:nvPr/>
        </p:nvSpPr>
        <p:spPr>
          <a:xfrm>
            <a:off x="10241280" y="4855464"/>
            <a:ext cx="129844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5C71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mel</a:t>
            </a:r>
            <a:endParaRPr lang="en-US" sz="950" dirty="0"/>
          </a:p>
        </p:txBody>
      </p:sp>
      <p:sp>
        <p:nvSpPr>
          <p:cNvPr id="21" name="Text 17"/>
          <p:cNvSpPr/>
          <p:nvPr/>
        </p:nvSpPr>
        <p:spPr>
          <a:xfrm>
            <a:off x="10241280" y="5056632"/>
            <a:ext cx="12984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85F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0.881</a:t>
            </a:r>
            <a:endParaRPr lang="en-US" sz="1300" dirty="0"/>
          </a:p>
        </p:txBody>
      </p:sp>
      <p:sp>
        <p:nvSpPr>
          <p:cNvPr id="22" name="Shape 18"/>
          <p:cNvSpPr/>
          <p:nvPr/>
        </p:nvSpPr>
        <p:spPr>
          <a:xfrm>
            <a:off x="5989320" y="5486400"/>
            <a:ext cx="1298448" cy="566928"/>
          </a:xfrm>
          <a:prstGeom prst="roundRect">
            <a:avLst>
              <a:gd name="adj" fmla="val 9677"/>
            </a:avLst>
          </a:prstGeom>
          <a:solidFill>
            <a:srgbClr val="EAF5F3"/>
          </a:solidFill>
          <a:ln/>
        </p:spPr>
      </p:sp>
      <p:sp>
        <p:nvSpPr>
          <p:cNvPr id="23" name="Text 19"/>
          <p:cNvSpPr/>
          <p:nvPr/>
        </p:nvSpPr>
        <p:spPr>
          <a:xfrm>
            <a:off x="5989320" y="5541264"/>
            <a:ext cx="129844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5C71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bkl</a:t>
            </a:r>
            <a:endParaRPr lang="en-US" sz="950" dirty="0"/>
          </a:p>
        </p:txBody>
      </p:sp>
      <p:sp>
        <p:nvSpPr>
          <p:cNvPr id="24" name="Text 20"/>
          <p:cNvSpPr/>
          <p:nvPr/>
        </p:nvSpPr>
        <p:spPr>
          <a:xfrm>
            <a:off x="5989320" y="5742432"/>
            <a:ext cx="12984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85F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0.886</a:t>
            </a:r>
            <a:endParaRPr lang="en-US" sz="1300" dirty="0"/>
          </a:p>
        </p:txBody>
      </p:sp>
      <p:sp>
        <p:nvSpPr>
          <p:cNvPr id="25" name="Shape 21"/>
          <p:cNvSpPr/>
          <p:nvPr/>
        </p:nvSpPr>
        <p:spPr>
          <a:xfrm>
            <a:off x="7406640" y="5486400"/>
            <a:ext cx="1298448" cy="566928"/>
          </a:xfrm>
          <a:prstGeom prst="roundRect">
            <a:avLst>
              <a:gd name="adj" fmla="val 9677"/>
            </a:avLst>
          </a:prstGeom>
          <a:solidFill>
            <a:srgbClr val="EAF5F3"/>
          </a:solidFill>
          <a:ln/>
        </p:spPr>
      </p:sp>
      <p:sp>
        <p:nvSpPr>
          <p:cNvPr id="26" name="Text 22"/>
          <p:cNvSpPr/>
          <p:nvPr/>
        </p:nvSpPr>
        <p:spPr>
          <a:xfrm>
            <a:off x="7406640" y="5541264"/>
            <a:ext cx="129844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5C71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df</a:t>
            </a:r>
            <a:endParaRPr lang="en-US" sz="950" dirty="0"/>
          </a:p>
        </p:txBody>
      </p:sp>
      <p:sp>
        <p:nvSpPr>
          <p:cNvPr id="27" name="Text 23"/>
          <p:cNvSpPr/>
          <p:nvPr/>
        </p:nvSpPr>
        <p:spPr>
          <a:xfrm>
            <a:off x="7406640" y="5742432"/>
            <a:ext cx="12984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85F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0.860</a:t>
            </a:r>
            <a:endParaRPr lang="en-US" sz="1300" dirty="0"/>
          </a:p>
        </p:txBody>
      </p:sp>
      <p:sp>
        <p:nvSpPr>
          <p:cNvPr id="28" name="Shape 24"/>
          <p:cNvSpPr/>
          <p:nvPr/>
        </p:nvSpPr>
        <p:spPr>
          <a:xfrm>
            <a:off x="8823960" y="5486400"/>
            <a:ext cx="1298448" cy="566928"/>
          </a:xfrm>
          <a:prstGeom prst="roundRect">
            <a:avLst>
              <a:gd name="adj" fmla="val 9677"/>
            </a:avLst>
          </a:prstGeom>
          <a:solidFill>
            <a:srgbClr val="EAF5F3"/>
          </a:solidFill>
          <a:ln/>
        </p:spPr>
      </p:sp>
      <p:sp>
        <p:nvSpPr>
          <p:cNvPr id="29" name="Text 25"/>
          <p:cNvSpPr/>
          <p:nvPr/>
        </p:nvSpPr>
        <p:spPr>
          <a:xfrm>
            <a:off x="8823960" y="5541264"/>
            <a:ext cx="129844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5C71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akiec</a:t>
            </a:r>
            <a:endParaRPr lang="en-US" sz="950" dirty="0"/>
          </a:p>
        </p:txBody>
      </p:sp>
      <p:sp>
        <p:nvSpPr>
          <p:cNvPr id="30" name="Text 26"/>
          <p:cNvSpPr/>
          <p:nvPr/>
        </p:nvSpPr>
        <p:spPr>
          <a:xfrm>
            <a:off x="8823960" y="5742432"/>
            <a:ext cx="12984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85F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0.810</a:t>
            </a:r>
            <a:endParaRPr lang="en-US" sz="1300" dirty="0"/>
          </a:p>
        </p:txBody>
      </p:sp>
      <p:sp>
        <p:nvSpPr>
          <p:cNvPr id="31" name="Text 27"/>
          <p:cNvSpPr/>
          <p:nvPr/>
        </p:nvSpPr>
        <p:spPr>
          <a:xfrm>
            <a:off x="11475720" y="6446520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71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85F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EXPLAINABILITY IN ACTION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11817"/>
            <a:ext cx="11064240" cy="64008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Attention Rollout — Seeing What the Model Sees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2161520" cy="128016"/>
          </a:xfrm>
          <a:prstGeom prst="rect">
            <a:avLst/>
          </a:prstGeom>
          <a:solidFill>
            <a:srgbClr val="0B7A75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463040"/>
            <a:ext cx="11064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For each prediction, attention rollout aggregates attention weights across layers into a single heatmap, revealing exactly which regions of the lesion the model relied on — overlaid here on three example diagnoses.</a:t>
            </a:r>
            <a:endParaRPr lang="en-US" sz="1250" dirty="0"/>
          </a:p>
        </p:txBody>
      </p:sp>
      <p:pic>
        <p:nvPicPr>
          <p:cNvPr id="6" name="Image 0" descr="/home/claude/assets/attn_akie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37360" y="2148840"/>
            <a:ext cx="8686800" cy="1170432"/>
          </a:xfrm>
          <a:prstGeom prst="rect">
            <a:avLst/>
          </a:prstGeom>
        </p:spPr>
      </p:pic>
      <p:pic>
        <p:nvPicPr>
          <p:cNvPr id="7" name="Image 1" descr="/home/claude/assets/attn_me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37360" y="3447288"/>
            <a:ext cx="8686800" cy="1170432"/>
          </a:xfrm>
          <a:prstGeom prst="rect">
            <a:avLst/>
          </a:prstGeom>
        </p:spPr>
      </p:pic>
      <p:pic>
        <p:nvPicPr>
          <p:cNvPr id="8" name="Image 2" descr="/home/claude/assets/attn_nv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37360" y="4745736"/>
            <a:ext cx="8686800" cy="1170432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1737360" y="603504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Model Input   ·   Attention Rollout   ·   Attention Overlay</a:t>
            </a:r>
            <a:endParaRPr lang="en-US" sz="1000" dirty="0"/>
          </a:p>
        </p:txBody>
      </p:sp>
      <p:sp>
        <p:nvSpPr>
          <p:cNvPr id="10" name="Text 5"/>
          <p:cNvSpPr/>
          <p:nvPr/>
        </p:nvSpPr>
        <p:spPr>
          <a:xfrm>
            <a:off x="11475720" y="6446520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71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4206240"/>
            <a:ext cx="4206240" cy="4206240"/>
          </a:xfrm>
          <a:prstGeom prst="ellipse">
            <a:avLst/>
          </a:prstGeom>
          <a:solidFill>
            <a:srgbClr val="0B7A75">
              <a:alpha val="2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-1280160"/>
            <a:ext cx="3108960" cy="3108960"/>
          </a:xfrm>
          <a:prstGeom prst="ellipse">
            <a:avLst/>
          </a:prstGeom>
          <a:solidFill>
            <a:srgbClr val="3FA79A">
              <a:alpha val="28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94360" y="5029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50" dirty="0">
                <a:solidFill>
                  <a:srgbClr val="3FA7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INSIGHTS  &amp;  CONCLUSION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82296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 Learned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94360" y="1883664"/>
            <a:ext cx="118872" cy="118872"/>
          </a:xfrm>
          <a:prstGeom prst="ellipse">
            <a:avLst/>
          </a:prstGeom>
          <a:solidFill>
            <a:srgbClr val="E8843C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1737360"/>
            <a:ext cx="10241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imbalance dominates errors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914400" y="2066544"/>
            <a:ext cx="10241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AFC9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nv at ~67% of images, minority classes like df and akiec remain the hardest to classify across every architecture.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94360" y="2779776"/>
            <a:ext cx="118872" cy="118872"/>
          </a:xfrm>
          <a:prstGeom prst="ellipse">
            <a:avLst/>
          </a:prstGeom>
          <a:solidFill>
            <a:srgbClr val="E8843C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2633472"/>
            <a:ext cx="10241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Transformers lead on raw accuracy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914400" y="2962656"/>
            <a:ext cx="10241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AFC9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5-fold ViT-B/16 and Swin-Tiny ensembles outperform CNN baselines by 6–8 points of accuracy and macro F1.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94360" y="3675888"/>
            <a:ext cx="118872" cy="118872"/>
          </a:xfrm>
          <a:prstGeom prst="ellipse">
            <a:avLst/>
          </a:prstGeom>
          <a:solidFill>
            <a:srgbClr val="E8843C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3529584"/>
            <a:ext cx="10241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Explainability need not be free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914400" y="3858768"/>
            <a:ext cx="10241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AFC9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GATv2 graph pipeline trades a few points of accuracy for attention-based visual rationale behind every prediction.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94360" y="4572000"/>
            <a:ext cx="118872" cy="118872"/>
          </a:xfrm>
          <a:prstGeom prst="ellipse">
            <a:avLst/>
          </a:prstGeom>
          <a:solidFill>
            <a:srgbClr val="E8843C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4425696"/>
            <a:ext cx="10241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overlap drives confusion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914400" y="4754880"/>
            <a:ext cx="10241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AFC9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bkl, akiec, and mel are visually similar pigmented lesions — the leading source of misclassification in every model's confusion matrix.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48640" y="5623560"/>
            <a:ext cx="11064240" cy="0"/>
          </a:xfrm>
          <a:prstGeom prst="line">
            <a:avLst/>
          </a:prstGeom>
          <a:noFill/>
          <a:ln w="12700">
            <a:solidFill>
              <a:srgbClr val="1E5A5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" y="5806440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i="1" dirty="0">
                <a:solidFill>
                  <a:srgbClr val="CFE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steps: address class imbalance with targeted augmentation/loss re-weighting, and extend attention-rollout explanations to the GNN's graph structure directly.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11475720" y="6446520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71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Apex">
  <a:themeElements>
    <a:clrScheme name="Apex">
      <a:dk1>
        <a:sysClr val="windowText" lastClr="000000"/>
      </a:dk1>
      <a:lt1>
        <a:sysClr val="window" lastClr="FFFFFF"/>
      </a:lt1>
      <a:dk2>
        <a:srgbClr val="69676D"/>
      </a:dk2>
      <a:lt2>
        <a:srgbClr val="C9C2D1"/>
      </a:lt2>
      <a:accent1>
        <a:srgbClr val="CEB966"/>
      </a:accent1>
      <a:accent2>
        <a:srgbClr val="9CB084"/>
      </a:accent2>
      <a:accent3>
        <a:srgbClr val="6BB1C9"/>
      </a:accent3>
      <a:accent4>
        <a:srgbClr val="6585CF"/>
      </a:accent4>
      <a:accent5>
        <a:srgbClr val="7E6BC9"/>
      </a:accent5>
      <a:accent6>
        <a:srgbClr val="A379BB"/>
      </a:accent6>
      <a:hlink>
        <a:srgbClr val="410082"/>
      </a:hlink>
      <a:folHlink>
        <a:srgbClr val="932968"/>
      </a:folHlink>
    </a:clrScheme>
    <a:fontScheme name="Apex">
      <a:majorFont>
        <a:latin typeface="Lucida Sans"/>
        <a:ea typeface=""/>
        <a:cs typeface=""/>
        <a:font script="Grek" typeface="Arial"/>
        <a:font script="Cyrl" typeface="Arial"/>
        <a:font script="Jpan" typeface="HG丸ｺﾞｼｯｸM-PRO"/>
        <a:font script="Hang" typeface="휴먼옛체"/>
        <a:font script="Hans" typeface="黑体"/>
        <a:font script="Hant" typeface="微軟正黑體"/>
        <a:font script="Arab" typeface="Tahoma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Book Antiqua"/>
        <a:ea typeface=""/>
        <a:cs typeface=""/>
        <a:font script="Grek" typeface="Times New Roman"/>
        <a:font script="Cyrl" typeface="Times New Roman"/>
        <a:font script="Jpan" typeface="HG明朝B"/>
        <a:font script="Hang" typeface="돋움"/>
        <a:font script="Hans" typeface="宋体"/>
        <a:font script="Hant" typeface="新細明體"/>
        <a:font script="Arab" typeface="Times New Roman"/>
        <a:font script="Hebr" typeface="David"/>
        <a:font script="Thai" typeface="Eucrosia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Apex">
      <a:fillStyleLst>
        <a:solidFill>
          <a:schemeClr val="phClr"/>
        </a:solidFill>
        <a:gradFill rotWithShape="1">
          <a:gsLst>
            <a:gs pos="20000">
              <a:schemeClr val="phClr">
                <a:tint val="9000"/>
              </a:schemeClr>
            </a:gs>
            <a:gs pos="100000">
              <a:schemeClr val="phClr">
                <a:tint val="70000"/>
                <a:satMod val="100000"/>
              </a:schemeClr>
            </a:gs>
          </a:gsLst>
          <a:path path="circle">
            <a:fillToRect l="-15000" t="-15000" r="115000" b="115000"/>
          </a:path>
        </a:gradFill>
        <a:gradFill rotWithShape="1">
          <a:gsLst>
            <a:gs pos="0">
              <a:schemeClr val="phClr">
                <a:shade val="60000"/>
              </a:schemeClr>
            </a:gs>
            <a:gs pos="33000">
              <a:schemeClr val="phClr">
                <a:tint val="86500"/>
              </a:schemeClr>
            </a:gs>
            <a:gs pos="46750">
              <a:schemeClr val="phClr">
                <a:tint val="71000"/>
                <a:satMod val="112000"/>
              </a:schemeClr>
            </a:gs>
            <a:gs pos="53000">
              <a:schemeClr val="phClr">
                <a:tint val="71000"/>
                <a:satMod val="112000"/>
              </a:schemeClr>
            </a:gs>
            <a:gs pos="68000">
              <a:schemeClr val="phClr">
                <a:tint val="86000"/>
              </a:schemeClr>
            </a:gs>
            <a:gs pos="100000">
              <a:schemeClr val="phClr">
                <a:shade val="60000"/>
              </a:schemeClr>
            </a:gs>
          </a:gsLst>
          <a:lin ang="8350000" scaled="1"/>
        </a:gradFill>
      </a:fillStyleLst>
      <a:lnStyleLst>
        <a:ln w="9525" cap="flat" cmpd="sng" algn="ctr">
          <a:solidFill>
            <a:schemeClr val="phClr">
              <a:shade val="48000"/>
              <a:satMod val="11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130000" dist="101600" dir="2700000" algn="tl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190500" dist="228600" dir="2700000" sy="90000" rotWithShape="0">
              <a:srgbClr val="000000">
                <a:alpha val="25500"/>
              </a:srgbClr>
            </a:outerShdw>
          </a:effectLst>
        </a:effectStyle>
        <a:effectStyle>
          <a:effectLst>
            <a:outerShdw blurRad="190500" dist="228600" dir="2700000" sy="90000" rotWithShape="0">
              <a:srgbClr val="000000">
                <a:alpha val="25500"/>
              </a:srgbClr>
            </a:outerShdw>
          </a:effectLst>
          <a:scene3d>
            <a:camera prst="orthographicFront" fov="0">
              <a:rot lat="0" lon="0" rev="0"/>
            </a:camera>
            <a:lightRig rig="soft" dir="tl">
              <a:rot lat="0" lon="0" rev="20100000"/>
            </a:lightRig>
          </a:scene3d>
          <a:sp3d>
            <a:bevelT w="508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180000"/>
              </a:schemeClr>
            </a:gs>
            <a:gs pos="100000">
              <a:schemeClr val="phClr">
                <a:shade val="45000"/>
                <a:satMod val="120000"/>
              </a:schemeClr>
            </a:gs>
          </a:gsLst>
          <a:path path="circle">
            <a:fillToRect r="100000" b="100000"/>
          </a:path>
        </a:gradFill>
        <a:blipFill>
          <a:blip xmlns:r="http://schemas.openxmlformats.org/officeDocument/2006/relationships" r:embed="rId1">
            <a:duotone>
              <a:schemeClr val="phClr">
                <a:shade val="3000"/>
                <a:satMod val="110000"/>
              </a:schemeClr>
              <a:schemeClr val="phClr">
                <a:tint val="60000"/>
                <a:satMod val="425000"/>
              </a:schemeClr>
            </a:duotone>
          </a:blip>
          <a:stretch>
            <a:fillRect/>
          </a:stretch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Apex</Template>
  <TotalTime>41</TotalTime>
  <Words>1333</Words>
  <Application>Microsoft Office PowerPoint</Application>
  <PresentationFormat>Custom</PresentationFormat>
  <Paragraphs>264</Paragraphs>
  <Slides>15</Slides>
  <Notes>14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6" baseType="lpstr">
      <vt:lpstr>Apex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hp</cp:lastModifiedBy>
  <cp:revision>6</cp:revision>
  <dcterms:created xsi:type="dcterms:W3CDTF">2026-08-21T03:23:06Z</dcterms:created>
  <dcterms:modified xsi:type="dcterms:W3CDTF">2026-08-21T04:06:19Z</dcterms:modified>
</cp:coreProperties>
</file>